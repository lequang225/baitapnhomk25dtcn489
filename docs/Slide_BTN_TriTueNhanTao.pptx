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a6a7427d-7478-f6ef-74fd-8d9ca624f9a9}">
          <p14:sldIdLst>
            <p14:sldId id="256"/>
            <p14:sldId id="257"/>
            <p14:sldId id="258"/>
            <p14:sldId id="259"/>
          </p14:sldIdLst>
        </p14:section>
        <p14:section name="Cơ sở lý thuyết" id="{3c11735b-c278-3020-d4e3-3c7d3a6c4ea6}">
          <p14:sldIdLst>
            <p14:sldId id="260"/>
            <p14:sldId id="261"/>
            <p14:sldId id="262"/>
          </p14:sldIdLst>
        </p14:section>
        <p14:section name="Ứng dụng" id="{1b469bcc-f46e-1b2b-27aa-3e0bf3b91f5e}">
          <p14:sldIdLst>
            <p14:sldId id="263"/>
            <p14:sldId id="264"/>
          </p14:sldIdLst>
        </p14:section>
        <p14:section name="Thực nghiệm" id="{22a1ecf4-5e61-2dfd-56b6-0e5b5e209160}">
          <p14:sldIdLst>
            <p14:sldId id="265"/>
            <p14:sldId id="266"/>
            <p14:sldId id="267"/>
            <p14:sldId id="268"/>
            <p14:sldId id="269"/>
          </p14:sldIdLst>
        </p14:section>
        <p14:section name="Kết luận" id="{11e97cc2-9f33-1f87-57bd-9f241c70c768}">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3F"/>
                </a:solidFill>
                <a:latin typeface="+mn-lt"/>
              </a:defRPr>
            </a:pPr>
            <a:r>
              <a:rPr sz="1300" b="0" i="0" u="none" strike="noStrike">
                <a:solidFill>
                  <a:srgbClr val="16203F"/>
                </a:solidFill>
                <a:latin typeface="+mn-lt"/>
              </a:rPr>
              <a:t>Chi phí đường đi trung bình (càng thấp càng tốt)</a:t>
            </a:r>
          </a:p>
        </c:rich>
      </c:tx>
      <c:layout/>
      <c:overlay val="0"/>
    </c:title>
    <c:autoTitleDeleted val="0"/>
    <c:plotArea>
      <c:layout/>
      <c:barChart>
        <c:barDir val="bar"/>
        <c:grouping val="clustered"/>
        <c:varyColors val="0"/>
        <c:ser>
          <c:idx val="0"/>
          <c:order val="0"/>
          <c:tx>
            <c:strRef>
              <c:f>Sheet1!$B$1</c:f>
              <c:strCache>
                <c:ptCount val="1"/>
                <c:pt idx="0">
                  <c:v>Chi phí đường đi trung bình</c:v>
                </c:pt>
              </c:strCache>
            </c:strRef>
          </c:tx>
          <c:spPr>
            <a:solidFill>
              <a:srgbClr val="065A82"/>
            </a:solidFill>
            <a:effectLst/>
          </c:spPr>
          <c:invertIfNegative val="0"/>
          <c:dLbls>
            <c:numFmt formatCode="#,##0" sourceLinked="0"/>
            <c:txPr>
              <a:bodyPr/>
              <a:lstStyle/>
              <a:p>
                <a:pPr>
                  <a:defRPr b="0" i="0" strike="noStrike" sz="1100" u="none">
                    <a:solidFill>
                      <a:srgbClr val="32414F"/>
                    </a:solidFill>
                    <a:latin typeface="+mn-lt"/>
                  </a:defRPr>
                </a:pPr>
              </a:p>
            </c:txPr>
            <c:showLegendKey val="0"/>
            <c:showVal val="1"/>
            <c:showCatName val="0"/>
            <c:showSerName val="0"/>
            <c:showPercent val="0"/>
            <c:showBubbleSize val="0"/>
            <c:showLeaderLines val="0"/>
          </c:dLbls>
          <c:cat>
            <c:multiLvlStrRef>
              <c:f>Sheet1!$A$2:$A$6</c:f>
              <c:multiLvlStrCache>
                <c:ptCount val="5"/>
                <c:lvl>
                  <c:pt idx="0">
                    <c:v>BFS</c:v>
                  </c:pt>
                  <c:pt idx="1">
                    <c:v>DFS</c:v>
                  </c:pt>
                  <c:pt idx="2">
                    <c:v>UCS</c:v>
                  </c:pt>
                  <c:pt idx="3">
                    <c:v>Greedy</c:v>
                  </c:pt>
                  <c:pt idx="4">
                    <c:v>A*</c:v>
                  </c:pt>
                </c:lvl>
              </c:multiLvlStrCache>
            </c:multiLvlStrRef>
          </c:cat>
          <c:val>
            <c:numRef>
              <c:f>Sheet1!$B$2:$B$6</c:f>
              <c:numCache>
                <c:formatCode>General</c:formatCode>
                <c:ptCount val="5"/>
                <c:pt idx="0">
                  <c:v>102.86</c:v>
                </c:pt>
                <c:pt idx="1">
                  <c:v>304.06</c:v>
                </c:pt>
                <c:pt idx="2">
                  <c:v>82.23</c:v>
                </c:pt>
                <c:pt idx="3">
                  <c:v>119.49</c:v>
                </c:pt>
                <c:pt idx="4">
                  <c:v>82.23</c:v>
                </c:pt>
              </c:numCache>
            </c:numRef>
          </c:val>
        </c:ser>
        <c:dLbls>
          <c:numFmt formatCode="#,##0" sourceLinked="0"/>
          <c:txPr>
            <a:bodyPr/>
            <a:lstStyle/>
            <a:p>
              <a:pPr>
                <a:defRPr b="0" i="0" strike="noStrike" sz="1100" u="none">
                  <a:solidFill>
                    <a:srgbClr val="32414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2414F"/>
                </a:solidFill>
                <a:latin typeface="+mn-lt"/>
              </a:defRPr>
            </a:pPr>
            <a:endParaRPr lang="en-US"/>
          </a:p>
        </c:txPr>
        <c:crossAx val="2094734552"/>
        <c:crosses val="autoZero"/>
        <c:auto val="1"/>
        <c:lblAlgn val="ctr"/>
        <c:noMultiLvlLbl val="1"/>
      </c:catAx>
      <c:valAx>
        <c:axId val="2094734552"/>
        <c:scaling>
          <c:orientation val="minMax"/>
          <c:max val="360"/>
          <c:min val="0"/>
        </c:scaling>
        <c:delete val="0"/>
        <c:axPos val="b"/>
        <c:majorGridlines>
          <c:spPr>
            <a:ln w="6350" cap="flat">
              <a:solidFill>
                <a:srgbClr val="E1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3F"/>
                </a:solidFill>
                <a:latin typeface="+mn-lt"/>
              </a:defRPr>
            </a:pPr>
            <a:r>
              <a:rPr sz="1300" b="0" i="0" u="none" strike="noStrike">
                <a:solidFill>
                  <a:srgbClr val="16203F"/>
                </a:solidFill>
                <a:latin typeface="+mn-lt"/>
              </a:rPr>
              <a:t>Số nút phải mở rộng trung bình (càng thấp càng nhanh)</a:t>
            </a:r>
          </a:p>
        </c:rich>
      </c:tx>
      <c:layout/>
      <c:overlay val="0"/>
    </c:title>
    <c:autoTitleDeleted val="0"/>
    <c:plotArea>
      <c:layout/>
      <c:barChart>
        <c:barDir val="bar"/>
        <c:grouping val="clustered"/>
        <c:varyColors val="0"/>
        <c:ser>
          <c:idx val="0"/>
          <c:order val="0"/>
          <c:tx>
            <c:strRef>
              <c:f>Sheet1!$B$1</c:f>
              <c:strCache>
                <c:ptCount val="1"/>
                <c:pt idx="0">
                  <c:v>Số nút mở rộng trung bình</c:v>
                </c:pt>
              </c:strCache>
            </c:strRef>
          </c:tx>
          <c:spPr>
            <a:solidFill>
              <a:srgbClr val="1C7293"/>
            </a:solidFill>
            <a:effectLst/>
          </c:spPr>
          <c:invertIfNegative val="0"/>
          <c:dLbls>
            <c:numFmt formatCode="#,##0" sourceLinked="0"/>
            <c:txPr>
              <a:bodyPr/>
              <a:lstStyle/>
              <a:p>
                <a:pPr>
                  <a:defRPr b="0" i="0" strike="noStrike" sz="1100" u="none">
                    <a:solidFill>
                      <a:srgbClr val="32414F"/>
                    </a:solidFill>
                    <a:latin typeface="+mn-lt"/>
                  </a:defRPr>
                </a:pPr>
              </a:p>
            </c:txPr>
            <c:showLegendKey val="0"/>
            <c:showVal val="1"/>
            <c:showCatName val="0"/>
            <c:showSerName val="0"/>
            <c:showPercent val="0"/>
            <c:showBubbleSize val="0"/>
            <c:showLeaderLines val="0"/>
          </c:dLbls>
          <c:cat>
            <c:multiLvlStrRef>
              <c:f>Sheet1!$A$2:$A$6</c:f>
              <c:multiLvlStrCache>
                <c:ptCount val="5"/>
                <c:lvl>
                  <c:pt idx="0">
                    <c:v>BFS</c:v>
                  </c:pt>
                  <c:pt idx="1">
                    <c:v>DFS</c:v>
                  </c:pt>
                  <c:pt idx="2">
                    <c:v>UCS</c:v>
                  </c:pt>
                  <c:pt idx="3">
                    <c:v>Greedy</c:v>
                  </c:pt>
                  <c:pt idx="4">
                    <c:v>A*</c:v>
                  </c:pt>
                </c:lvl>
              </c:multiLvlStrCache>
            </c:multiLvlStrRef>
          </c:cat>
          <c:val>
            <c:numRef>
              <c:f>Sheet1!$B$2:$B$6</c:f>
              <c:numCache>
                <c:formatCode>General</c:formatCode>
                <c:ptCount val="5"/>
                <c:pt idx="0">
                  <c:v>1191.7</c:v>
                </c:pt>
                <c:pt idx="1">
                  <c:v>295.1</c:v>
                </c:pt>
                <c:pt idx="2">
                  <c:v>1190.5</c:v>
                </c:pt>
                <c:pt idx="3">
                  <c:v>109.1</c:v>
                </c:pt>
                <c:pt idx="4">
                  <c:v>501.5</c:v>
                </c:pt>
              </c:numCache>
            </c:numRef>
          </c:val>
        </c:ser>
        <c:dLbls>
          <c:numFmt formatCode="#,##0" sourceLinked="0"/>
          <c:txPr>
            <a:bodyPr/>
            <a:lstStyle/>
            <a:p>
              <a:pPr>
                <a:defRPr b="0" i="0" strike="noStrike" sz="1100" u="none">
                  <a:solidFill>
                    <a:srgbClr val="32414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2414F"/>
                </a:solidFill>
                <a:latin typeface="+mn-lt"/>
              </a:defRPr>
            </a:pPr>
            <a:endParaRPr lang="en-US"/>
          </a:p>
        </c:txPr>
        <c:crossAx val="2094734552"/>
        <c:crosses val="autoZero"/>
        <c:auto val="1"/>
        <c:lblAlgn val="ctr"/>
        <c:noMultiLvlLbl val="1"/>
      </c:catAx>
      <c:valAx>
        <c:axId val="2094734552"/>
        <c:scaling>
          <c:orientation val="minMax"/>
          <c:max val="1400"/>
          <c:min val="0"/>
        </c:scaling>
        <c:delete val="0"/>
        <c:axPos val="b"/>
        <c:majorGridlines>
          <c:spPr>
            <a:ln w="6350" cap="flat">
              <a:solidFill>
                <a:srgbClr val="E1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Chao thay co va cac ban. Nhom chung em thuc hien de tai xay dung ung dung mo phong va so sanh nam thuat toan tim kiem trong khong gian trang thai.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Bai trinh bay gom nam phan. Em se danh phan lon thoi gian cho phan bon - ket qua thuc nghiem.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con so ben phai la ket qua thuc nghiem cua nhom, se duoc chung minh o phan 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la y quan trong nhat ve mat cai dat: frontier quyet dinh hanh vi thuat toan.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nam chinh giua hai thai cuc UCS va Greedy. Ung dung cho phep chon heuristic zero de nguoi hoc quan sat truc tiep su suy bien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Hinh nay noi len gan nhu toan bo noi dung ly thuyet. A* tiet kiem 73% so nut so voi UCS ma khong mat gi ve chat luong loi giai.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20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691640"/>
            <a:ext cx="10515600" cy="2194560"/>
          </a:xfrm>
          <a:prstGeom prst="rect">
            <a:avLst/>
          </a:prstGeom>
          <a:noFill/>
          <a:ln/>
        </p:spPr>
        <p:txBody>
          <a:bodyPr wrap="square" rtlCol="0"/>
          <a:lstStyle>
            <a:lvl1pPr algn="ctr" indent="0" marL="0">
              <a:buNone/>
              <a:defRPr lang="en-US" sz="3400" b="1" dirty="0">
                <a:solidFill>
                  <a:srgbClr val="FFFFFF"/>
                </a:solidFill>
              </a:defRPr>
            </a:lvl1pPr>
          </a:lstStyle>
          <a:p>
            <a:pPr algn="ctr" indent="0" marL="0">
              <a:buNone/>
            </a:pPr>
            <a:endParaRPr lang="en-US" sz="3400" dirty="0"/>
          </a:p>
        </p:txBody>
      </p:sp>
      <p:sp>
        <p:nvSpPr>
          <p:cNvPr id="3" name="Text 0"/>
          <p:cNvSpPr/>
          <p:nvPr>
            <p:ph idx="101" type="body" hasCustomPrompt="1"/>
          </p:nvPr>
        </p:nvSpPr>
        <p:spPr>
          <a:xfrm>
            <a:off x="1463040" y="4160520"/>
            <a:ext cx="9235440" cy="1554480"/>
          </a:xfrm>
          <a:prstGeom prst="rect">
            <a:avLst/>
          </a:prstGeom>
          <a:noFill/>
          <a:ln/>
        </p:spPr>
        <p:txBody>
          <a:bodyPr wrap="square" rtlCol="0"/>
          <a:lstStyle>
            <a:lvl1pPr algn="ctr" indent="0" marL="0">
              <a:buNone/>
              <a:defRPr lang="en-US" sz="1600" dirty="0">
                <a:solidFill>
                  <a:srgbClr val="9FB8C8"/>
                </a:solidFill>
              </a:defRPr>
            </a:lvl1pPr>
          </a:lstStyle>
          <a:p>
            <a:pPr algn="ct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65A8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005840" y="2606040"/>
            <a:ext cx="10149840" cy="10972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3" name="Text 0"/>
          <p:cNvSpPr/>
          <p:nvPr>
            <p:ph idx="101" type="body" hasCustomPrompt="1"/>
          </p:nvPr>
        </p:nvSpPr>
        <p:spPr>
          <a:xfrm>
            <a:off x="1005840" y="3749040"/>
            <a:ext cx="10149840" cy="914400"/>
          </a:xfrm>
          <a:prstGeom prst="rect">
            <a:avLst/>
          </a:prstGeom>
          <a:noFill/>
          <a:ln/>
        </p:spPr>
        <p:txBody>
          <a:bodyPr wrap="square" rtlCol="0"/>
          <a:lstStyle>
            <a:lvl1pPr algn="l" indent="0" marL="0">
              <a:buNone/>
              <a:defRPr lang="en-US" sz="1600" dirty="0">
                <a:solidFill>
                  <a:srgbClr val="CFE1EC"/>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lstStyle>
            <a:lvl1pPr algn="l" indent="0" marL="0">
              <a:buNone/>
              <a:defRPr lang="en-US" sz="3200" b="1" dirty="0">
                <a:solidFill>
                  <a:srgbClr val="16203F"/>
                </a:solidFill>
              </a:defRPr>
            </a:lvl1pPr>
          </a:lstStyle>
          <a:p>
            <a:pPr algn="l" indent="0" marL="0">
              <a:buNone/>
            </a:pPr>
            <a:endParaRPr lang="en-US" sz="3200" dirty="0"/>
          </a:p>
        </p:txBody>
      </p:sp>
      <p:sp>
        <p:nvSpPr>
          <p:cNvPr id="3" name="Text 0"/>
          <p:cNvSpPr/>
          <p:nvPr>
            <p:ph idx="101" type="body" hasCustomPrompt="1"/>
          </p:nvPr>
        </p:nvSpPr>
        <p:spPr>
          <a:xfrm>
            <a:off x="566928" y="1207008"/>
            <a:ext cx="11064240" cy="4937760"/>
          </a:xfrm>
          <a:prstGeom prst="rect">
            <a:avLst/>
          </a:prstGeom>
          <a:noFill/>
          <a:ln/>
        </p:spPr>
        <p:txBody>
          <a:bodyPr wrap="square" rtlCol="0"/>
          <a:lstStyle>
            <a:lvl1pPr algn="l" indent="0" marL="0">
              <a:buNone/>
              <a:defRPr lang="en-US" sz="1600" dirty="0">
                <a:solidFill>
                  <a:srgbClr val="32414F"/>
                </a:solidFill>
              </a:defRPr>
            </a:lvl1pPr>
          </a:lstStyle>
          <a:p>
            <a:pPr algn="l" indent="0" marL="0">
              <a:buNone/>
            </a:pPr>
            <a:endParaRPr lang="en-US" sz="1600" dirty="0"/>
          </a:p>
        </p:txBody>
      </p:sp>
      <p:sp>
        <p:nvSpPr>
          <p:cNvPr id="4" name="Text 0"/>
          <p:cNvSpPr txBox="1"/>
          <p:nvPr/>
        </p:nvSpPr>
        <p:spPr>
          <a:xfrm>
            <a:off x="566928" y="6327648"/>
            <a:ext cx="8229600" cy="292608"/>
          </a:xfrm>
          <a:prstGeom prst="rect">
            <a:avLst/>
          </a:prstGeom>
          <a:noFill/>
          <a:ln/>
        </p:spPr>
        <p:txBody>
          <a:bodyPr wrap="square" lIns="0" tIns="0" rIns="0" bIns="0" rtlCol="0" anchor="ctr"/>
          <a:lstStyle/>
          <a:p>
            <a:pPr indent="0" marL="0">
              <a:buNone/>
            </a:pPr>
            <a:r>
              <a:rPr lang="en-US" sz="1000" dirty="0">
                <a:solidFill>
                  <a:srgbClr val="6B7C8C"/>
                </a:solidFill>
              </a:rPr>
              <a:t>Trí tuệ nhân tạo — Thuật toán tìm kiếm trong không gian trạng thái</a:t>
            </a:r>
            <a:endParaRPr lang="en-US" sz="10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TINT">
    <p:bg>
      <p:bgPr>
        <a:solidFill>
          <a:srgbClr val="EEF3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lstStyle>
            <a:lvl1pPr algn="l" indent="0" marL="0">
              <a:buNone/>
              <a:defRPr lang="en-US" sz="3200" b="1" dirty="0">
                <a:solidFill>
                  <a:srgbClr val="16203F"/>
                </a:solidFill>
              </a:defRPr>
            </a:lvl1pPr>
          </a:lstStyle>
          <a:p>
            <a:pPr algn="l" indent="0" marL="0">
              <a:buNone/>
            </a:pPr>
            <a:endParaRPr lang="en-US" sz="3200" dirty="0"/>
          </a:p>
        </p:txBody>
      </p:sp>
      <p:sp>
        <p:nvSpPr>
          <p:cNvPr id="3" name="Text 0"/>
          <p:cNvSpPr/>
          <p:nvPr>
            <p:ph idx="101" type="body" hasCustomPrompt="1"/>
          </p:nvPr>
        </p:nvSpPr>
        <p:spPr>
          <a:xfrm>
            <a:off x="566928" y="1207008"/>
            <a:ext cx="11064240" cy="4937760"/>
          </a:xfrm>
          <a:prstGeom prst="rect">
            <a:avLst/>
          </a:prstGeom>
          <a:noFill/>
          <a:ln/>
        </p:spPr>
        <p:txBody>
          <a:bodyPr wrap="square" rtlCol="0"/>
          <a:lstStyle>
            <a:lvl1pPr algn="l" indent="0" marL="0">
              <a:buNone/>
              <a:defRPr lang="en-US" sz="1600" dirty="0">
                <a:solidFill>
                  <a:srgbClr val="32414F"/>
                </a:solidFill>
              </a:defRPr>
            </a:lvl1pPr>
          </a:lstStyle>
          <a:p>
            <a:pPr algn="l" indent="0" marL="0">
              <a:buNone/>
            </a:pPr>
            <a:endParaRPr lang="en-US" sz="1600" dirty="0"/>
          </a:p>
        </p:txBody>
      </p:sp>
      <p:sp>
        <p:nvSpPr>
          <p:cNvPr id="4" name="Text 0"/>
          <p:cNvSpPr txBox="1"/>
          <p:nvPr/>
        </p:nvSpPr>
        <p:spPr>
          <a:xfrm>
            <a:off x="566928" y="6327648"/>
            <a:ext cx="8229600" cy="292608"/>
          </a:xfrm>
          <a:prstGeom prst="rect">
            <a:avLst/>
          </a:prstGeom>
          <a:noFill/>
          <a:ln/>
        </p:spPr>
        <p:txBody>
          <a:bodyPr wrap="square" lIns="0" tIns="0" rIns="0" bIns="0" rtlCol="0" anchor="ctr"/>
          <a:lstStyle/>
          <a:p>
            <a:pPr indent="0" marL="0">
              <a:buNone/>
            </a:pPr>
            <a:r>
              <a:rPr lang="en-US" sz="1000" dirty="0">
                <a:solidFill>
                  <a:srgbClr val="6B7C8C"/>
                </a:solidFill>
              </a:rPr>
              <a:t>Trí tuệ nhân tạo — Thuật toán tìm kiếm trong không gian trạng thái</a:t>
            </a:r>
            <a:endParaRPr lang="en-US" sz="10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691640"/>
            <a:ext cx="10515600" cy="2194560"/>
          </a:xfrm>
          <a:prstGeom prst="rect">
            <a:avLst/>
          </a:prstGeom>
          <a:noFill/>
          <a:ln/>
        </p:spPr>
        <p:txBody>
          <a:bodyPr wrap="square" rtlCol="0" anchor="ctr"/>
          <a:lstStyle/>
          <a:p>
            <a:pPr algn="ctr" indent="0" marL="0">
              <a:buNone/>
            </a:pPr>
            <a:r>
              <a:rPr lang="en-US" sz="3400" b="1" dirty="0">
                <a:solidFill>
                  <a:srgbClr val="FFFFFF"/>
                </a:solidFill>
              </a:rPr>
              <a:t>ỨNG DỤNG MÔ PHỎNG VÀ SO SÁNH</a:t>
            </a:r>
            <a:endParaRPr lang="en-US" sz="3400" dirty="0"/>
          </a:p>
          <a:p>
            <a:pPr algn="ctr" indent="0" marL="0">
              <a:buNone/>
            </a:pPr>
            <a:r>
              <a:rPr lang="en-US" sz="3400" b="1" dirty="0">
                <a:solidFill>
                  <a:srgbClr val="FFFFFF"/>
                </a:solidFill>
              </a:rPr>
              <a:t>CÁC THUẬT TOÁN TÌM KIẾM</a:t>
            </a:r>
            <a:endParaRPr lang="en-US" sz="3400" dirty="0"/>
          </a:p>
          <a:p>
            <a:pPr algn="ctr" indent="0" marL="0">
              <a:buNone/>
            </a:pPr>
            <a:r>
              <a:rPr lang="en-US" sz="3400" b="1" dirty="0">
                <a:solidFill>
                  <a:srgbClr val="FFFFFF"/>
                </a:solidFill>
              </a:rPr>
              <a:t>TRONG KHÔNG GIAN TRẠNG THÁI</a:t>
            </a:r>
            <a:endParaRPr lang="en-US" sz="3400" dirty="0"/>
          </a:p>
        </p:txBody>
      </p:sp>
      <p:sp>
        <p:nvSpPr>
          <p:cNvPr id="3" name="Text 0"/>
          <p:cNvSpPr/>
          <p:nvPr>
            <p:ph idx="101" type="body" hasCustomPrompt="1"/>
          </p:nvPr>
        </p:nvSpPr>
        <p:spPr>
          <a:xfrm>
            <a:off x="1463040" y="4160520"/>
            <a:ext cx="9235440" cy="1554480"/>
          </a:xfrm>
          <a:prstGeom prst="rect">
            <a:avLst/>
          </a:prstGeom>
          <a:noFill/>
          <a:ln/>
        </p:spPr>
        <p:txBody>
          <a:bodyPr wrap="square" rtlCol="0" anchor="t"/>
          <a:lstStyle/>
          <a:p>
            <a:pPr algn="ctr" indent="0" marL="0">
              <a:buNone/>
            </a:pPr>
            <a:r>
              <a:rPr lang="en-US" sz="1600" b="1" dirty="0">
                <a:solidFill>
                  <a:srgbClr val="FFFFFF"/>
                </a:solidFill>
              </a:rPr>
              <a:t>Bài tập nhóm — Môn Trí tuệ nhân tạo</a:t>
            </a:r>
            <a:endParaRPr lang="en-US" sz="1600" dirty="0"/>
          </a:p>
          <a:p>
            <a:pPr algn="ctr" indent="0" marL="0">
              <a:buNone/>
            </a:pPr>
            <a:r>
              <a:rPr lang="en-US" sz="1600" dirty="0">
                <a:solidFill>
                  <a:srgbClr val="E8A33D"/>
                </a:solidFill>
              </a:rPr>
              <a:t>BFS  ·  DFS  ·  UCS  ·  Greedy Best-First  ·  A*</a:t>
            </a:r>
            <a:endParaRPr lang="en-US" sz="1600" dirty="0"/>
          </a:p>
          <a:p>
            <a:pPr algn="ctr" indent="0" marL="0">
              <a:buNone/>
            </a:pPr>
            <a:r>
              <a:rPr lang="en-US" sz="1600" dirty="0">
                <a:solidFill>
                  <a:srgbClr val="9FB8C8"/>
                </a:solidFill>
              </a:rPr>
              <a:t>Tháng 10 năm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Nội dung trình bày</a:t>
            </a:r>
            <a:endParaRPr lang="en-US" sz="3200" dirty="0"/>
          </a:p>
        </p:txBody>
      </p:sp>
      <p:sp>
        <p:nvSpPr>
          <p:cNvPr id="3" name="agenda-badge-0"/>
          <p:cNvSpPr/>
          <p:nvPr/>
        </p:nvSpPr>
        <p:spPr>
          <a:xfrm>
            <a:off x="621792" y="1435608"/>
            <a:ext cx="512064" cy="512064"/>
          </a:xfrm>
          <a:prstGeom prst="ellipse">
            <a:avLst/>
          </a:prstGeom>
          <a:solidFill>
            <a:srgbClr val="065A82"/>
          </a:solidFill>
          <a:ln w="12700">
            <a:solidFill>
              <a:srgbClr val="065A82"/>
            </a:solidFill>
            <a:prstDash val="solid"/>
          </a:ln>
        </p:spPr>
      </p:sp>
      <p:sp>
        <p:nvSpPr>
          <p:cNvPr id="4" name="Text 2"/>
          <p:cNvSpPr txBox="1"/>
          <p:nvPr/>
        </p:nvSpPr>
        <p:spPr>
          <a:xfrm>
            <a:off x="621792" y="143560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rPr>
              <a:t>01</a:t>
            </a:r>
            <a:endParaRPr lang="en-US" sz="1500" dirty="0"/>
          </a:p>
        </p:txBody>
      </p:sp>
      <p:sp>
        <p:nvSpPr>
          <p:cNvPr id="5" name="Text 3"/>
          <p:cNvSpPr txBox="1"/>
          <p:nvPr/>
        </p:nvSpPr>
        <p:spPr>
          <a:xfrm>
            <a:off x="1335024" y="1362456"/>
            <a:ext cx="3657600" cy="347472"/>
          </a:xfrm>
          <a:prstGeom prst="rect">
            <a:avLst/>
          </a:prstGeom>
          <a:noFill/>
          <a:ln/>
        </p:spPr>
        <p:txBody>
          <a:bodyPr wrap="square" lIns="0" tIns="0" rIns="0" bIns="0" rtlCol="0" anchor="ctr"/>
          <a:lstStyle/>
          <a:p>
            <a:pPr indent="0" marL="0">
              <a:buNone/>
            </a:pPr>
            <a:r>
              <a:rPr lang="en-US" sz="1900" b="1" dirty="0">
                <a:solidFill>
                  <a:srgbClr val="16203F"/>
                </a:solidFill>
              </a:rPr>
              <a:t>Đặt vấn đề</a:t>
            </a:r>
            <a:endParaRPr lang="en-US" sz="1900" dirty="0"/>
          </a:p>
        </p:txBody>
      </p:sp>
      <p:sp>
        <p:nvSpPr>
          <p:cNvPr id="6" name="Text 4"/>
          <p:cNvSpPr txBox="1"/>
          <p:nvPr/>
        </p:nvSpPr>
        <p:spPr>
          <a:xfrm>
            <a:off x="1335024" y="1728216"/>
            <a:ext cx="9692640" cy="310896"/>
          </a:xfrm>
          <a:prstGeom prst="rect">
            <a:avLst/>
          </a:prstGeom>
          <a:noFill/>
          <a:ln/>
        </p:spPr>
        <p:txBody>
          <a:bodyPr wrap="square" lIns="0" tIns="0" rIns="0" bIns="0" rtlCol="0" anchor="ctr"/>
          <a:lstStyle/>
          <a:p>
            <a:pPr indent="0" marL="0">
              <a:buNone/>
            </a:pPr>
            <a:r>
              <a:rPr lang="en-US" sz="1400" dirty="0">
                <a:solidFill>
                  <a:srgbClr val="6B7C8C"/>
                </a:solidFill>
              </a:rPr>
              <a:t>Vì sao cần mô phỏng trực quan các thuật toán tìm kiếm</a:t>
            </a:r>
            <a:endParaRPr lang="en-US" sz="1400" dirty="0"/>
          </a:p>
        </p:txBody>
      </p:sp>
      <p:sp>
        <p:nvSpPr>
          <p:cNvPr id="7" name="agenda-badge-1"/>
          <p:cNvSpPr/>
          <p:nvPr/>
        </p:nvSpPr>
        <p:spPr>
          <a:xfrm>
            <a:off x="621792" y="2386584"/>
            <a:ext cx="512064" cy="512064"/>
          </a:xfrm>
          <a:prstGeom prst="ellipse">
            <a:avLst/>
          </a:prstGeom>
          <a:solidFill>
            <a:srgbClr val="1C7293"/>
          </a:solidFill>
          <a:ln w="12700">
            <a:solidFill>
              <a:srgbClr val="1C7293"/>
            </a:solidFill>
            <a:prstDash val="solid"/>
          </a:ln>
        </p:spPr>
      </p:sp>
      <p:sp>
        <p:nvSpPr>
          <p:cNvPr id="8" name="Text 6"/>
          <p:cNvSpPr txBox="1"/>
          <p:nvPr/>
        </p:nvSpPr>
        <p:spPr>
          <a:xfrm>
            <a:off x="621792" y="238658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rPr>
              <a:t>02</a:t>
            </a:r>
            <a:endParaRPr lang="en-US" sz="1500" dirty="0"/>
          </a:p>
        </p:txBody>
      </p:sp>
      <p:sp>
        <p:nvSpPr>
          <p:cNvPr id="9" name="Text 7"/>
          <p:cNvSpPr txBox="1"/>
          <p:nvPr/>
        </p:nvSpPr>
        <p:spPr>
          <a:xfrm>
            <a:off x="1335024" y="2313432"/>
            <a:ext cx="3657600" cy="347472"/>
          </a:xfrm>
          <a:prstGeom prst="rect">
            <a:avLst/>
          </a:prstGeom>
          <a:noFill/>
          <a:ln/>
        </p:spPr>
        <p:txBody>
          <a:bodyPr wrap="square" lIns="0" tIns="0" rIns="0" bIns="0" rtlCol="0" anchor="ctr"/>
          <a:lstStyle/>
          <a:p>
            <a:pPr indent="0" marL="0">
              <a:buNone/>
            </a:pPr>
            <a:r>
              <a:rPr lang="en-US" sz="1900" b="1" dirty="0">
                <a:solidFill>
                  <a:srgbClr val="16203F"/>
                </a:solidFill>
              </a:rPr>
              <a:t>Cơ sở lý thuyết</a:t>
            </a:r>
            <a:endParaRPr lang="en-US" sz="1900" dirty="0"/>
          </a:p>
        </p:txBody>
      </p:sp>
      <p:sp>
        <p:nvSpPr>
          <p:cNvPr id="10" name="Text 8"/>
          <p:cNvSpPr txBox="1"/>
          <p:nvPr/>
        </p:nvSpPr>
        <p:spPr>
          <a:xfrm>
            <a:off x="1335024" y="2679192"/>
            <a:ext cx="9692640" cy="310896"/>
          </a:xfrm>
          <a:prstGeom prst="rect">
            <a:avLst/>
          </a:prstGeom>
          <a:noFill/>
          <a:ln/>
        </p:spPr>
        <p:txBody>
          <a:bodyPr wrap="square" lIns="0" tIns="0" rIns="0" bIns="0" rtlCol="0" anchor="ctr"/>
          <a:lstStyle/>
          <a:p>
            <a:pPr indent="0" marL="0">
              <a:buNone/>
            </a:pPr>
            <a:r>
              <a:rPr lang="en-US" sz="1400" dirty="0">
                <a:solidFill>
                  <a:srgbClr val="6B7C8C"/>
                </a:solidFill>
              </a:rPr>
              <a:t>Không gian trạng thái, năm thuật toán, vai trò của heuristic</a:t>
            </a:r>
            <a:endParaRPr lang="en-US" sz="1400" dirty="0"/>
          </a:p>
        </p:txBody>
      </p:sp>
      <p:sp>
        <p:nvSpPr>
          <p:cNvPr id="11" name="agenda-badge-2"/>
          <p:cNvSpPr/>
          <p:nvPr/>
        </p:nvSpPr>
        <p:spPr>
          <a:xfrm>
            <a:off x="621792" y="3337560"/>
            <a:ext cx="512064" cy="512064"/>
          </a:xfrm>
          <a:prstGeom prst="ellipse">
            <a:avLst/>
          </a:prstGeom>
          <a:solidFill>
            <a:srgbClr val="065A82"/>
          </a:solidFill>
          <a:ln w="12700">
            <a:solidFill>
              <a:srgbClr val="065A82"/>
            </a:solidFill>
            <a:prstDash val="solid"/>
          </a:ln>
        </p:spPr>
      </p:sp>
      <p:sp>
        <p:nvSpPr>
          <p:cNvPr id="12" name="Text 10"/>
          <p:cNvSpPr txBox="1"/>
          <p:nvPr/>
        </p:nvSpPr>
        <p:spPr>
          <a:xfrm>
            <a:off x="621792" y="333756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rPr>
              <a:t>03</a:t>
            </a:r>
            <a:endParaRPr lang="en-US" sz="1500" dirty="0"/>
          </a:p>
        </p:txBody>
      </p:sp>
      <p:sp>
        <p:nvSpPr>
          <p:cNvPr id="13" name="Text 11"/>
          <p:cNvSpPr txBox="1"/>
          <p:nvPr/>
        </p:nvSpPr>
        <p:spPr>
          <a:xfrm>
            <a:off x="1335024" y="3264408"/>
            <a:ext cx="3657600" cy="347472"/>
          </a:xfrm>
          <a:prstGeom prst="rect">
            <a:avLst/>
          </a:prstGeom>
          <a:noFill/>
          <a:ln/>
        </p:spPr>
        <p:txBody>
          <a:bodyPr wrap="square" lIns="0" tIns="0" rIns="0" bIns="0" rtlCol="0" anchor="ctr"/>
          <a:lstStyle/>
          <a:p>
            <a:pPr indent="0" marL="0">
              <a:buNone/>
            </a:pPr>
            <a:r>
              <a:rPr lang="en-US" sz="1900" b="1" dirty="0">
                <a:solidFill>
                  <a:srgbClr val="16203F"/>
                </a:solidFill>
              </a:rPr>
              <a:t>Ứng dụng đã xây dựng</a:t>
            </a:r>
            <a:endParaRPr lang="en-US" sz="1900" dirty="0"/>
          </a:p>
        </p:txBody>
      </p:sp>
      <p:sp>
        <p:nvSpPr>
          <p:cNvPr id="14" name="Text 12"/>
          <p:cNvSpPr txBox="1"/>
          <p:nvPr/>
        </p:nvSpPr>
        <p:spPr>
          <a:xfrm>
            <a:off x="1335024" y="3630168"/>
            <a:ext cx="9692640" cy="310896"/>
          </a:xfrm>
          <a:prstGeom prst="rect">
            <a:avLst/>
          </a:prstGeom>
          <a:noFill/>
          <a:ln/>
        </p:spPr>
        <p:txBody>
          <a:bodyPr wrap="square" lIns="0" tIns="0" rIns="0" bIns="0" rtlCol="0" anchor="ctr"/>
          <a:lstStyle/>
          <a:p>
            <a:pPr indent="0" marL="0">
              <a:buNone/>
            </a:pPr>
            <a:r>
              <a:rPr lang="en-US" sz="1400" dirty="0">
                <a:solidFill>
                  <a:srgbClr val="6B7C8C"/>
                </a:solidFill>
              </a:rPr>
              <a:t>Kiến trúc, tính năng, công nghệ sử dụng</a:t>
            </a:r>
            <a:endParaRPr lang="en-US" sz="1400" dirty="0"/>
          </a:p>
        </p:txBody>
      </p:sp>
      <p:sp>
        <p:nvSpPr>
          <p:cNvPr id="15" name="agenda-badge-3"/>
          <p:cNvSpPr/>
          <p:nvPr/>
        </p:nvSpPr>
        <p:spPr>
          <a:xfrm>
            <a:off x="621792" y="4288536"/>
            <a:ext cx="512064" cy="512064"/>
          </a:xfrm>
          <a:prstGeom prst="ellipse">
            <a:avLst/>
          </a:prstGeom>
          <a:solidFill>
            <a:srgbClr val="1C7293"/>
          </a:solidFill>
          <a:ln w="12700">
            <a:solidFill>
              <a:srgbClr val="1C7293"/>
            </a:solidFill>
            <a:prstDash val="solid"/>
          </a:ln>
        </p:spPr>
      </p:sp>
      <p:sp>
        <p:nvSpPr>
          <p:cNvPr id="16" name="Text 14"/>
          <p:cNvSpPr txBox="1"/>
          <p:nvPr/>
        </p:nvSpPr>
        <p:spPr>
          <a:xfrm>
            <a:off x="621792" y="428853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rPr>
              <a:t>04</a:t>
            </a:r>
            <a:endParaRPr lang="en-US" sz="1500" dirty="0"/>
          </a:p>
        </p:txBody>
      </p:sp>
      <p:sp>
        <p:nvSpPr>
          <p:cNvPr id="17" name="Text 15"/>
          <p:cNvSpPr txBox="1"/>
          <p:nvPr/>
        </p:nvSpPr>
        <p:spPr>
          <a:xfrm>
            <a:off x="1335024" y="4215384"/>
            <a:ext cx="3657600" cy="347472"/>
          </a:xfrm>
          <a:prstGeom prst="rect">
            <a:avLst/>
          </a:prstGeom>
          <a:noFill/>
          <a:ln/>
        </p:spPr>
        <p:txBody>
          <a:bodyPr wrap="square" lIns="0" tIns="0" rIns="0" bIns="0" rtlCol="0" anchor="ctr"/>
          <a:lstStyle/>
          <a:p>
            <a:pPr indent="0" marL="0">
              <a:buNone/>
            </a:pPr>
            <a:r>
              <a:rPr lang="en-US" sz="1900" b="1" dirty="0">
                <a:solidFill>
                  <a:srgbClr val="16203F"/>
                </a:solidFill>
              </a:rPr>
              <a:t>Kết quả thực nghiệm</a:t>
            </a:r>
            <a:endParaRPr lang="en-US" sz="1900" dirty="0"/>
          </a:p>
        </p:txBody>
      </p:sp>
      <p:sp>
        <p:nvSpPr>
          <p:cNvPr id="18" name="Text 16"/>
          <p:cNvSpPr txBox="1"/>
          <p:nvPr/>
        </p:nvSpPr>
        <p:spPr>
          <a:xfrm>
            <a:off x="1335024" y="4581144"/>
            <a:ext cx="9692640" cy="310896"/>
          </a:xfrm>
          <a:prstGeom prst="rect">
            <a:avLst/>
          </a:prstGeom>
          <a:noFill/>
          <a:ln/>
        </p:spPr>
        <p:txBody>
          <a:bodyPr wrap="square" lIns="0" tIns="0" rIns="0" bIns="0" rtlCol="0" anchor="ctr"/>
          <a:lstStyle/>
          <a:p>
            <a:pPr indent="0" marL="0">
              <a:buNone/>
            </a:pPr>
            <a:r>
              <a:rPr lang="en-US" sz="1400" dirty="0">
                <a:solidFill>
                  <a:srgbClr val="6B7C8C"/>
                </a:solidFill>
              </a:rPr>
              <a:t>Bốn thực nghiệm, hơn 400 lượt chạy</a:t>
            </a:r>
            <a:endParaRPr lang="en-US" sz="1400" dirty="0"/>
          </a:p>
        </p:txBody>
      </p:sp>
      <p:sp>
        <p:nvSpPr>
          <p:cNvPr id="19" name="agenda-badge-4"/>
          <p:cNvSpPr/>
          <p:nvPr/>
        </p:nvSpPr>
        <p:spPr>
          <a:xfrm>
            <a:off x="621792" y="5239512"/>
            <a:ext cx="512064" cy="512064"/>
          </a:xfrm>
          <a:prstGeom prst="ellipse">
            <a:avLst/>
          </a:prstGeom>
          <a:solidFill>
            <a:srgbClr val="16203F"/>
          </a:solidFill>
          <a:ln w="12700">
            <a:solidFill>
              <a:srgbClr val="16203F"/>
            </a:solidFill>
            <a:prstDash val="solid"/>
          </a:ln>
        </p:spPr>
      </p:sp>
      <p:sp>
        <p:nvSpPr>
          <p:cNvPr id="20" name="Text 18"/>
          <p:cNvSpPr txBox="1"/>
          <p:nvPr/>
        </p:nvSpPr>
        <p:spPr>
          <a:xfrm>
            <a:off x="621792" y="5239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rPr>
              <a:t>05</a:t>
            </a:r>
            <a:endParaRPr lang="en-US" sz="1500" dirty="0"/>
          </a:p>
        </p:txBody>
      </p:sp>
      <p:sp>
        <p:nvSpPr>
          <p:cNvPr id="21" name="Text 19"/>
          <p:cNvSpPr txBox="1"/>
          <p:nvPr/>
        </p:nvSpPr>
        <p:spPr>
          <a:xfrm>
            <a:off x="1335024" y="5166360"/>
            <a:ext cx="3657600" cy="347472"/>
          </a:xfrm>
          <a:prstGeom prst="rect">
            <a:avLst/>
          </a:prstGeom>
          <a:noFill/>
          <a:ln/>
        </p:spPr>
        <p:txBody>
          <a:bodyPr wrap="square" lIns="0" tIns="0" rIns="0" bIns="0" rtlCol="0" anchor="ctr"/>
          <a:lstStyle/>
          <a:p>
            <a:pPr indent="0" marL="0">
              <a:buNone/>
            </a:pPr>
            <a:r>
              <a:rPr lang="en-US" sz="1900" b="1" dirty="0">
                <a:solidFill>
                  <a:srgbClr val="16203F"/>
                </a:solidFill>
              </a:rPr>
              <a:t>Kết luận</a:t>
            </a:r>
            <a:endParaRPr lang="en-US" sz="1900" dirty="0"/>
          </a:p>
        </p:txBody>
      </p:sp>
      <p:sp>
        <p:nvSpPr>
          <p:cNvPr id="22" name="Text 20"/>
          <p:cNvSpPr txBox="1"/>
          <p:nvPr/>
        </p:nvSpPr>
        <p:spPr>
          <a:xfrm>
            <a:off x="1335024" y="5532120"/>
            <a:ext cx="9692640" cy="310896"/>
          </a:xfrm>
          <a:prstGeom prst="rect">
            <a:avLst/>
          </a:prstGeom>
          <a:noFill/>
          <a:ln/>
        </p:spPr>
        <p:txBody>
          <a:bodyPr wrap="square" lIns="0" tIns="0" rIns="0" bIns="0" rtlCol="0" anchor="ctr"/>
          <a:lstStyle/>
          <a:p>
            <a:pPr indent="0" marL="0">
              <a:buNone/>
            </a:pPr>
            <a:r>
              <a:rPr lang="en-US" sz="1400" dirty="0">
                <a:solidFill>
                  <a:srgbClr val="6B7C8C"/>
                </a:solidFill>
              </a:rPr>
              <a:t>Ba bài học và hướng phát triển</a:t>
            </a:r>
            <a:endParaRPr lang="en-US" sz="1400" dirty="0"/>
          </a:p>
        </p:txBody>
      </p:sp>
      <p:sp>
        <p:nvSpPr>
          <p:cNvPr id="24"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Đặt vấn đề</a:t>
            </a:r>
            <a:endParaRPr lang="en-US" sz="3200" dirty="0"/>
          </a:p>
        </p:txBody>
      </p:sp>
      <p:sp>
        <p:nvSpPr>
          <p:cNvPr id="3" name="Text 1"/>
          <p:cNvSpPr txBox="1"/>
          <p:nvPr/>
        </p:nvSpPr>
        <p:spPr>
          <a:xfrm>
            <a:off x="566928" y="1280160"/>
            <a:ext cx="6492240" cy="4206240"/>
          </a:xfrm>
          <a:prstGeom prst="rect">
            <a:avLst/>
          </a:prstGeom>
          <a:noFill/>
          <a:ln/>
        </p:spPr>
        <p:txBody>
          <a:bodyPr wrap="square" rtlCol="0" anchor="t"/>
          <a:lstStyle/>
          <a:p>
            <a:pPr indent="0" marL="0">
              <a:spcAft>
                <a:spcPts val="1200"/>
              </a:spcAft>
              <a:buNone/>
            </a:pPr>
            <a:r>
              <a:rPr lang="en-US" sz="1500" dirty="0">
                <a:solidFill>
                  <a:srgbClr val="32414F"/>
                </a:solidFill>
              </a:rPr>
              <a:t>Rất nhiều bài toán thực tế đều quy về tìm một đường đi trong không gian trạng thái: dẫn đường GPS, điều hướng robot, tìm đường cho nhân vật trong game, định tuyến gói tin.</a:t>
            </a:r>
            <a:endParaRPr lang="en-US" sz="1500" dirty="0"/>
          </a:p>
          <a:p>
            <a:pPr indent="0" marL="0">
              <a:spcAft>
                <a:spcPts val="1200"/>
              </a:spcAft>
              <a:buNone/>
            </a:pPr>
            <a:r>
              <a:rPr lang="en-US" sz="1500" dirty="0">
                <a:solidFill>
                  <a:srgbClr val="32414F"/>
                </a:solidFill>
              </a:rPr>
              <a:t>Giáo trình trình bày các thuật toán bằng mã giả và vài ví dụ nhỏ làm bằng tay — đủ để hiểu cơ chế, nhưng khó thấy được sự khác biệt về hiệu quả.</a:t>
            </a:r>
            <a:endParaRPr lang="en-US" sz="1500" dirty="0"/>
          </a:p>
          <a:p>
            <a:pPr indent="0" marL="0">
              <a:spcAft>
                <a:spcPts val="600"/>
              </a:spcAft>
              <a:buNone/>
            </a:pPr>
            <a:r>
              <a:rPr lang="en-US" sz="1500" b="1" dirty="0">
                <a:solidFill>
                  <a:srgbClr val="16203F"/>
                </a:solidFill>
              </a:rPr>
              <a:t>Ba câu hỏi đặt ra:</a:t>
            </a:r>
            <a:endParaRPr lang="en-US" sz="1500" dirty="0"/>
          </a:p>
          <a:p>
            <a:pPr marL="342900" indent="-342900">
              <a:spcAft>
                <a:spcPts val="400"/>
              </a:spcAft>
              <a:buSzPct val="100000"/>
              <a:buChar char="•"/>
            </a:pPr>
            <a:r>
              <a:rPr lang="en-US" sz="1500" dirty="0">
                <a:solidFill>
                  <a:srgbClr val="32414F"/>
                </a:solidFill>
              </a:rPr>
              <a:t>Vì sao A* được dùng phổ biến trong khi UCS cho cùng kết quả tối ưu?</a:t>
            </a:r>
            <a:endParaRPr lang="en-US" sz="1500" dirty="0"/>
          </a:p>
          <a:p>
            <a:pPr marL="342900" indent="-342900">
              <a:spcAft>
                <a:spcPts val="400"/>
              </a:spcAft>
              <a:buSzPct val="100000"/>
              <a:buChar char="•"/>
            </a:pPr>
            <a:r>
              <a:rPr lang="en-US" sz="1500" dirty="0">
                <a:solidFill>
                  <a:srgbClr val="32414F"/>
                </a:solidFill>
              </a:rPr>
              <a:t>Vì sao tìm kiếm tham lam chạy rất nhanh nhưng không được tin cậy?</a:t>
            </a:r>
            <a:endParaRPr lang="en-US" sz="1500" dirty="0"/>
          </a:p>
          <a:p>
            <a:pPr marL="342900" indent="-342900">
              <a:buSzPct val="100000"/>
              <a:buChar char="•"/>
            </a:pPr>
            <a:r>
              <a:rPr lang="en-US" sz="1500" dirty="0">
                <a:solidFill>
                  <a:srgbClr val="32414F"/>
                </a:solidFill>
              </a:rPr>
              <a:t>Heuristic thực sự giúp được bao nhiêu, và đổi lại phải trả giá gì?</a:t>
            </a:r>
            <a:endParaRPr lang="en-US" sz="1500" dirty="0"/>
          </a:p>
        </p:txBody>
      </p:sp>
      <p:sp>
        <p:nvSpPr>
          <p:cNvPr id="4" name="stat-1"/>
          <p:cNvSpPr/>
          <p:nvPr/>
        </p:nvSpPr>
        <p:spPr>
          <a:xfrm>
            <a:off x="7452360" y="1371600"/>
            <a:ext cx="4160520" cy="1874520"/>
          </a:xfrm>
          <a:prstGeom prst="roundRect">
            <a:avLst>
              <a:gd name="adj" fmla="val 4878"/>
            </a:avLst>
          </a:prstGeom>
          <a:solidFill>
            <a:srgbClr val="065A82"/>
          </a:solidFill>
          <a:ln w="12700">
            <a:solidFill>
              <a:srgbClr val="065A82"/>
            </a:solidFill>
            <a:prstDash val="solid"/>
          </a:ln>
          <a:effectLst>
            <a:outerShdw sx="100000" sy="100000" kx="0" ky="0" algn="bl" rotWithShape="0" blurRad="127000" dist="25400" dir="5400000">
              <a:srgbClr val="16203F">
                <a:alpha val="12000"/>
              </a:srgbClr>
            </a:outerShdw>
          </a:effectLst>
        </p:spPr>
      </p:sp>
      <p:sp>
        <p:nvSpPr>
          <p:cNvPr id="5" name="Text 3"/>
          <p:cNvSpPr txBox="1"/>
          <p:nvPr/>
        </p:nvSpPr>
        <p:spPr>
          <a:xfrm>
            <a:off x="7452360" y="1481328"/>
            <a:ext cx="4160520" cy="914400"/>
          </a:xfrm>
          <a:prstGeom prst="rect">
            <a:avLst/>
          </a:prstGeom>
          <a:noFill/>
          <a:ln/>
        </p:spPr>
        <p:txBody>
          <a:bodyPr wrap="square" lIns="0" tIns="0" rIns="0" bIns="0" rtlCol="0" anchor="ctr"/>
          <a:lstStyle/>
          <a:p>
            <a:pPr algn="ctr" indent="0" marL="0">
              <a:buNone/>
            </a:pPr>
            <a:r>
              <a:rPr lang="en-US" sz="5400" b="1" dirty="0">
                <a:solidFill>
                  <a:srgbClr val="FFFFFF"/>
                </a:solidFill>
              </a:rPr>
              <a:t>73%</a:t>
            </a:r>
            <a:endParaRPr lang="en-US" sz="5400" dirty="0"/>
          </a:p>
        </p:txBody>
      </p:sp>
      <p:sp>
        <p:nvSpPr>
          <p:cNvPr id="6" name="Text 4"/>
          <p:cNvSpPr txBox="1"/>
          <p:nvPr/>
        </p:nvSpPr>
        <p:spPr>
          <a:xfrm>
            <a:off x="7589520" y="2395728"/>
            <a:ext cx="3886200" cy="731520"/>
          </a:xfrm>
          <a:prstGeom prst="rect">
            <a:avLst/>
          </a:prstGeom>
          <a:noFill/>
          <a:ln/>
        </p:spPr>
        <p:txBody>
          <a:bodyPr wrap="square" lIns="0" tIns="0" rIns="0" bIns="0" rtlCol="0" anchor="ctr"/>
          <a:lstStyle/>
          <a:p>
            <a:pPr algn="ctr" indent="0" marL="0">
              <a:buNone/>
            </a:pPr>
            <a:r>
              <a:rPr lang="en-US" sz="1300" dirty="0">
                <a:solidFill>
                  <a:srgbClr val="CFE1EC"/>
                </a:solidFill>
              </a:rPr>
              <a:t>số nút A* tiết kiệm được so với UCS</a:t>
            </a:r>
            <a:endParaRPr lang="en-US" sz="1300" dirty="0"/>
          </a:p>
          <a:p>
            <a:pPr algn="ctr" indent="0" marL="0">
              <a:buNone/>
            </a:pPr>
            <a:r>
              <a:rPr lang="en-US" sz="1300" dirty="0">
                <a:solidFill>
                  <a:srgbClr val="CFE1EC"/>
                </a:solidFill>
              </a:rPr>
              <a:t>mà lời giải vẫn tối ưu y hệt</a:t>
            </a:r>
            <a:endParaRPr lang="en-US" sz="1300" dirty="0"/>
          </a:p>
        </p:txBody>
      </p:sp>
      <p:sp>
        <p:nvSpPr>
          <p:cNvPr id="7" name="stat-2"/>
          <p:cNvSpPr/>
          <p:nvPr/>
        </p:nvSpPr>
        <p:spPr>
          <a:xfrm>
            <a:off x="7452360" y="3456432"/>
            <a:ext cx="4160520" cy="1874520"/>
          </a:xfrm>
          <a:prstGeom prst="roundRect">
            <a:avLst>
              <a:gd name="adj" fmla="val 4878"/>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8" name="Text 6"/>
          <p:cNvSpPr txBox="1"/>
          <p:nvPr/>
        </p:nvSpPr>
        <p:spPr>
          <a:xfrm>
            <a:off x="7452360" y="3566160"/>
            <a:ext cx="4160520" cy="914400"/>
          </a:xfrm>
          <a:prstGeom prst="rect">
            <a:avLst/>
          </a:prstGeom>
          <a:noFill/>
          <a:ln/>
        </p:spPr>
        <p:txBody>
          <a:bodyPr wrap="square" lIns="0" tIns="0" rIns="0" bIns="0" rtlCol="0" anchor="ctr"/>
          <a:lstStyle/>
          <a:p>
            <a:pPr algn="ctr" indent="0" marL="0">
              <a:buNone/>
            </a:pPr>
            <a:r>
              <a:rPr lang="en-US" sz="5400" b="1" dirty="0">
                <a:solidFill>
                  <a:srgbClr val="C94F4F"/>
                </a:solidFill>
              </a:rPr>
              <a:t>+45%</a:t>
            </a:r>
            <a:endParaRPr lang="en-US" sz="5400" dirty="0"/>
          </a:p>
        </p:txBody>
      </p:sp>
      <p:sp>
        <p:nvSpPr>
          <p:cNvPr id="9" name="Text 7"/>
          <p:cNvSpPr txBox="1"/>
          <p:nvPr/>
        </p:nvSpPr>
        <p:spPr>
          <a:xfrm>
            <a:off x="7589520" y="4480560"/>
            <a:ext cx="3886200" cy="731520"/>
          </a:xfrm>
          <a:prstGeom prst="rect">
            <a:avLst/>
          </a:prstGeom>
          <a:noFill/>
          <a:ln/>
        </p:spPr>
        <p:txBody>
          <a:bodyPr wrap="square" lIns="0" tIns="0" rIns="0" bIns="0" rtlCol="0" anchor="ctr"/>
          <a:lstStyle/>
          <a:p>
            <a:pPr algn="ctr" indent="0" marL="0">
              <a:buNone/>
            </a:pPr>
            <a:r>
              <a:rPr lang="en-US" sz="1300" dirty="0">
                <a:solidFill>
                  <a:srgbClr val="6B7C8C"/>
                </a:solidFill>
              </a:rPr>
              <a:t>chi phí đường đi mà tìm kiếm tham lam</a:t>
            </a:r>
            <a:endParaRPr lang="en-US" sz="1300" dirty="0"/>
          </a:p>
          <a:p>
            <a:pPr algn="ctr" indent="0" marL="0">
              <a:buNone/>
            </a:pPr>
            <a:r>
              <a:rPr lang="en-US" sz="1300" dirty="0">
                <a:solidFill>
                  <a:srgbClr val="6B7C8C"/>
                </a:solidFill>
              </a:rPr>
              <a:t>phải trả thêm để đổi lấy tốc độ</a:t>
            </a:r>
            <a:endParaRPr lang="en-US" sz="1300" dirty="0"/>
          </a:p>
        </p:txBody>
      </p:sp>
      <p:sp>
        <p:nvSpPr>
          <p:cNvPr id="10" name="Text 8"/>
          <p:cNvSpPr txBox="1"/>
          <p:nvPr/>
        </p:nvSpPr>
        <p:spPr>
          <a:xfrm>
            <a:off x="7452360" y="5486400"/>
            <a:ext cx="4160520" cy="365760"/>
          </a:xfrm>
          <a:prstGeom prst="rect">
            <a:avLst/>
          </a:prstGeom>
          <a:noFill/>
          <a:ln/>
        </p:spPr>
        <p:txBody>
          <a:bodyPr wrap="square" lIns="0" tIns="0" rIns="0" bIns="0" rtlCol="0" anchor="ctr"/>
          <a:lstStyle/>
          <a:p>
            <a:pPr algn="ctr" indent="0" marL="0">
              <a:buNone/>
            </a:pPr>
            <a:r>
              <a:rPr lang="en-US" sz="1100" i="1" dirty="0">
                <a:solidFill>
                  <a:srgbClr val="6B7C8C"/>
                </a:solidFill>
              </a:rPr>
              <a:t>Hai con số này là kết quả thực nghiệm của nhóm — sẽ chứng minh ở phần 4</a:t>
            </a:r>
            <a:endParaRPr lang="en-US" sz="1100" dirty="0"/>
          </a:p>
        </p:txBody>
      </p:sp>
      <p:sp>
        <p:nvSpPr>
          <p:cNvPr id="12"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Bài toán tìm kiếm trong không gian trạng thái</a:t>
            </a:r>
            <a:endParaRPr lang="en-US" sz="3200" dirty="0"/>
          </a:p>
        </p:txBody>
      </p:sp>
      <p:sp>
        <p:nvSpPr>
          <p:cNvPr id="3" name="Text 1"/>
          <p:cNvSpPr txBox="1"/>
          <p:nvPr/>
        </p:nvSpPr>
        <p:spPr>
          <a:xfrm>
            <a:off x="566928" y="1188720"/>
            <a:ext cx="11064240" cy="457200"/>
          </a:xfrm>
          <a:prstGeom prst="rect">
            <a:avLst/>
          </a:prstGeom>
          <a:noFill/>
          <a:ln/>
        </p:spPr>
        <p:txBody>
          <a:bodyPr wrap="square" lIns="0" tIns="0" rIns="0" bIns="0" rtlCol="0" anchor="ctr"/>
          <a:lstStyle/>
          <a:p>
            <a:pPr indent="0" marL="0">
              <a:buNone/>
            </a:pPr>
            <a:r>
              <a:rPr lang="en-US" sz="1500" dirty="0">
                <a:solidFill>
                  <a:srgbClr val="32414F"/>
                </a:solidFill>
              </a:rPr>
              <a:t>Mọi thuật toán trong ứng dụng đều thao tác trên đúng ba cấu trúc dữ liệu — và chính cấu trúc của frontier quyết định thuật toán đó là gì.</a:t>
            </a:r>
            <a:endParaRPr lang="en-US" sz="1500" dirty="0"/>
          </a:p>
        </p:txBody>
      </p:sp>
      <p:sp>
        <p:nvSpPr>
          <p:cNvPr id="4" name="struct-0"/>
          <p:cNvSpPr/>
          <p:nvPr/>
        </p:nvSpPr>
        <p:spPr>
          <a:xfrm>
            <a:off x="566928" y="1828800"/>
            <a:ext cx="3456432" cy="3291840"/>
          </a:xfrm>
          <a:prstGeom prst="roundRect">
            <a:avLst>
              <a:gd name="adj" fmla="val 2778"/>
            </a:avLst>
          </a:prstGeom>
          <a:solidFill>
            <a:srgbClr val="065A82"/>
          </a:solidFill>
          <a:ln w="12700">
            <a:solidFill>
              <a:srgbClr val="065A82"/>
            </a:solidFill>
            <a:prstDash val="solid"/>
          </a:ln>
          <a:effectLst>
            <a:outerShdw sx="100000" sy="100000" kx="0" ky="0" algn="bl" rotWithShape="0" blurRad="127000" dist="25400" dir="5400000">
              <a:srgbClr val="16203F">
                <a:alpha val="12000"/>
              </a:srgbClr>
            </a:outerShdw>
          </a:effectLst>
        </p:spPr>
      </p:sp>
      <p:sp>
        <p:nvSpPr>
          <p:cNvPr id="5" name="Text 3"/>
          <p:cNvSpPr txBox="1"/>
          <p:nvPr/>
        </p:nvSpPr>
        <p:spPr>
          <a:xfrm>
            <a:off x="822960" y="2066544"/>
            <a:ext cx="2944368" cy="457200"/>
          </a:xfrm>
          <a:prstGeom prst="rect">
            <a:avLst/>
          </a:prstGeom>
          <a:noFill/>
          <a:ln/>
        </p:spPr>
        <p:txBody>
          <a:bodyPr wrap="square" lIns="0" tIns="0" rIns="0" bIns="0" rtlCol="0" anchor="ctr"/>
          <a:lstStyle/>
          <a:p>
            <a:pPr indent="0" marL="0">
              <a:buNone/>
            </a:pPr>
            <a:r>
              <a:rPr lang="en-US" sz="1800" b="1" dirty="0">
                <a:solidFill>
                  <a:srgbClr val="FFFFFF"/>
                </a:solidFill>
              </a:rPr>
              <a:t>Frontier (biên)</a:t>
            </a:r>
            <a:endParaRPr lang="en-US" sz="1800" dirty="0"/>
          </a:p>
        </p:txBody>
      </p:sp>
      <p:sp>
        <p:nvSpPr>
          <p:cNvPr id="6" name="Text 4"/>
          <p:cNvSpPr txBox="1"/>
          <p:nvPr/>
        </p:nvSpPr>
        <p:spPr>
          <a:xfrm>
            <a:off x="822960" y="2578608"/>
            <a:ext cx="2944368" cy="2286000"/>
          </a:xfrm>
          <a:prstGeom prst="rect">
            <a:avLst/>
          </a:prstGeom>
          <a:noFill/>
          <a:ln/>
        </p:spPr>
        <p:txBody>
          <a:bodyPr wrap="square" lIns="0" tIns="0" rIns="0" bIns="0" rtlCol="0" anchor="t"/>
          <a:lstStyle/>
          <a:p>
            <a:pPr indent="0" marL="0">
              <a:lnSpc>
                <a:spcPct val="110000"/>
              </a:lnSpc>
              <a:buNone/>
            </a:pPr>
            <a:r>
              <a:rPr lang="en-US" sz="1350" dirty="0">
                <a:solidFill>
                  <a:srgbClr val="CFE1EC"/>
                </a:solidFill>
              </a:rPr>
              <a:t>Tập các nút đã sinh ra nhưng chưa mở rộng.</a:t>
            </a:r>
            <a:endParaRPr lang="en-US" sz="1350" dirty="0"/>
          </a:p>
          <a:p>
            <a:pPr indent="0" marL="0">
              <a:lnSpc>
                <a:spcPct val="110000"/>
              </a:lnSpc>
              <a:buNone/>
            </a:pPr>
            <a:endParaRPr lang="en-US" sz="1350" dirty="0"/>
          </a:p>
          <a:p>
            <a:pPr indent="0" marL="0">
              <a:lnSpc>
                <a:spcPct val="110000"/>
              </a:lnSpc>
              <a:buNone/>
            </a:pPr>
            <a:r>
              <a:rPr lang="en-US" sz="1350" dirty="0">
                <a:solidFill>
                  <a:srgbClr val="CFE1EC"/>
                </a:solidFill>
              </a:rPr>
              <a:t>FIFO → BFS</a:t>
            </a:r>
            <a:endParaRPr lang="en-US" sz="1350" dirty="0"/>
          </a:p>
          <a:p>
            <a:pPr indent="0" marL="0">
              <a:lnSpc>
                <a:spcPct val="110000"/>
              </a:lnSpc>
              <a:buNone/>
            </a:pPr>
            <a:r>
              <a:rPr lang="en-US" sz="1350" dirty="0">
                <a:solidFill>
                  <a:srgbClr val="CFE1EC"/>
                </a:solidFill>
              </a:rPr>
              <a:t>LIFO → DFS</a:t>
            </a:r>
            <a:endParaRPr lang="en-US" sz="1350" dirty="0"/>
          </a:p>
          <a:p>
            <a:pPr indent="0" marL="0">
              <a:lnSpc>
                <a:spcPct val="110000"/>
              </a:lnSpc>
              <a:buNone/>
            </a:pPr>
            <a:r>
              <a:rPr lang="en-US" sz="1350" dirty="0">
                <a:solidFill>
                  <a:srgbClr val="CFE1EC"/>
                </a:solidFill>
              </a:rPr>
              <a:t>Hàng đợi ưu tiên → UCS, Greedy, A*</a:t>
            </a:r>
            <a:endParaRPr lang="en-US" sz="1350" dirty="0"/>
          </a:p>
        </p:txBody>
      </p:sp>
      <p:sp>
        <p:nvSpPr>
          <p:cNvPr id="7" name="struct-1"/>
          <p:cNvSpPr/>
          <p:nvPr/>
        </p:nvSpPr>
        <p:spPr>
          <a:xfrm>
            <a:off x="4297680" y="1828800"/>
            <a:ext cx="3456432" cy="3291840"/>
          </a:xfrm>
          <a:prstGeom prst="roundRect">
            <a:avLst>
              <a:gd name="adj" fmla="val 2778"/>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8" name="Text 6"/>
          <p:cNvSpPr txBox="1"/>
          <p:nvPr/>
        </p:nvSpPr>
        <p:spPr>
          <a:xfrm>
            <a:off x="4553712" y="2066544"/>
            <a:ext cx="2944368" cy="457200"/>
          </a:xfrm>
          <a:prstGeom prst="rect">
            <a:avLst/>
          </a:prstGeom>
          <a:noFill/>
          <a:ln/>
        </p:spPr>
        <p:txBody>
          <a:bodyPr wrap="square" lIns="0" tIns="0" rIns="0" bIns="0" rtlCol="0" anchor="ctr"/>
          <a:lstStyle/>
          <a:p>
            <a:pPr indent="0" marL="0">
              <a:buNone/>
            </a:pPr>
            <a:r>
              <a:rPr lang="en-US" sz="1800" b="1" dirty="0">
                <a:solidFill>
                  <a:srgbClr val="16203F"/>
                </a:solidFill>
              </a:rPr>
              <a:t>Explored (đã duyệt)</a:t>
            </a:r>
            <a:endParaRPr lang="en-US" sz="1800" dirty="0"/>
          </a:p>
        </p:txBody>
      </p:sp>
      <p:sp>
        <p:nvSpPr>
          <p:cNvPr id="9" name="Text 7"/>
          <p:cNvSpPr txBox="1"/>
          <p:nvPr/>
        </p:nvSpPr>
        <p:spPr>
          <a:xfrm>
            <a:off x="4553712" y="2578608"/>
            <a:ext cx="2944368" cy="2286000"/>
          </a:xfrm>
          <a:prstGeom prst="rect">
            <a:avLst/>
          </a:prstGeom>
          <a:noFill/>
          <a:ln/>
        </p:spPr>
        <p:txBody>
          <a:bodyPr wrap="square" lIns="0" tIns="0" rIns="0" bIns="0" rtlCol="0" anchor="t"/>
          <a:lstStyle/>
          <a:p>
            <a:pPr indent="0" marL="0">
              <a:lnSpc>
                <a:spcPct val="110000"/>
              </a:lnSpc>
              <a:buNone/>
            </a:pPr>
            <a:r>
              <a:rPr lang="en-US" sz="1350" dirty="0">
                <a:solidFill>
                  <a:srgbClr val="32414F"/>
                </a:solidFill>
              </a:rPr>
              <a:t>Tập các nút đã mở rộng.</a:t>
            </a:r>
            <a:endParaRPr lang="en-US" sz="1350" dirty="0"/>
          </a:p>
          <a:p>
            <a:pPr indent="0" marL="0">
              <a:lnSpc>
                <a:spcPct val="110000"/>
              </a:lnSpc>
              <a:buNone/>
            </a:pPr>
            <a:endParaRPr lang="en-US" sz="1350" dirty="0"/>
          </a:p>
          <a:p>
            <a:pPr indent="0" marL="0">
              <a:lnSpc>
                <a:spcPct val="110000"/>
              </a:lnSpc>
              <a:buNone/>
            </a:pPr>
            <a:r>
              <a:rPr lang="en-US" sz="1350" dirty="0">
                <a:solidFill>
                  <a:srgbClr val="32414F"/>
                </a:solidFill>
              </a:rPr>
              <a:t>Dùng để tránh lặp vô hạn trên đồ thị có chu trình, và để không mở rộng lại một nút hai lần.</a:t>
            </a:r>
            <a:endParaRPr lang="en-US" sz="1350" dirty="0"/>
          </a:p>
        </p:txBody>
      </p:sp>
      <p:sp>
        <p:nvSpPr>
          <p:cNvPr id="10" name="struct-2"/>
          <p:cNvSpPr/>
          <p:nvPr/>
        </p:nvSpPr>
        <p:spPr>
          <a:xfrm>
            <a:off x="8028432" y="1828800"/>
            <a:ext cx="3456432" cy="3291840"/>
          </a:xfrm>
          <a:prstGeom prst="roundRect">
            <a:avLst>
              <a:gd name="adj" fmla="val 2778"/>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11" name="Text 9"/>
          <p:cNvSpPr txBox="1"/>
          <p:nvPr/>
        </p:nvSpPr>
        <p:spPr>
          <a:xfrm>
            <a:off x="8284464" y="2066544"/>
            <a:ext cx="2944368" cy="457200"/>
          </a:xfrm>
          <a:prstGeom prst="rect">
            <a:avLst/>
          </a:prstGeom>
          <a:noFill/>
          <a:ln/>
        </p:spPr>
        <p:txBody>
          <a:bodyPr wrap="square" lIns="0" tIns="0" rIns="0" bIns="0" rtlCol="0" anchor="ctr"/>
          <a:lstStyle/>
          <a:p>
            <a:pPr indent="0" marL="0">
              <a:buNone/>
            </a:pPr>
            <a:r>
              <a:rPr lang="en-US" sz="1800" b="1" dirty="0">
                <a:solidFill>
                  <a:srgbClr val="16203F"/>
                </a:solidFill>
              </a:rPr>
              <a:t>Parent (bảng cha)</a:t>
            </a:r>
            <a:endParaRPr lang="en-US" sz="1800" dirty="0"/>
          </a:p>
        </p:txBody>
      </p:sp>
      <p:sp>
        <p:nvSpPr>
          <p:cNvPr id="12" name="Text 10"/>
          <p:cNvSpPr txBox="1"/>
          <p:nvPr/>
        </p:nvSpPr>
        <p:spPr>
          <a:xfrm>
            <a:off x="8284464" y="2578608"/>
            <a:ext cx="2944368" cy="2286000"/>
          </a:xfrm>
          <a:prstGeom prst="rect">
            <a:avLst/>
          </a:prstGeom>
          <a:noFill/>
          <a:ln/>
        </p:spPr>
        <p:txBody>
          <a:bodyPr wrap="square" lIns="0" tIns="0" rIns="0" bIns="0" rtlCol="0" anchor="t"/>
          <a:lstStyle/>
          <a:p>
            <a:pPr indent="0" marL="0">
              <a:lnSpc>
                <a:spcPct val="110000"/>
              </a:lnSpc>
              <a:buNone/>
            </a:pPr>
            <a:r>
              <a:rPr lang="en-US" sz="1350" dirty="0">
                <a:solidFill>
                  <a:srgbClr val="32414F"/>
                </a:solidFill>
              </a:rPr>
              <a:t>Lưu nút cha của mỗi nút.</a:t>
            </a:r>
            <a:endParaRPr lang="en-US" sz="1350" dirty="0"/>
          </a:p>
          <a:p>
            <a:pPr indent="0" marL="0">
              <a:lnSpc>
                <a:spcPct val="110000"/>
              </a:lnSpc>
              <a:buNone/>
            </a:pPr>
            <a:endParaRPr lang="en-US" sz="1350" dirty="0"/>
          </a:p>
          <a:p>
            <a:pPr indent="0" marL="0">
              <a:lnSpc>
                <a:spcPct val="110000"/>
              </a:lnSpc>
              <a:buNone/>
            </a:pPr>
            <a:r>
              <a:rPr lang="en-US" sz="1350" dirty="0">
                <a:solidFill>
                  <a:srgbClr val="32414F"/>
                </a:solidFill>
              </a:rPr>
              <a:t>Khi tìm thấy đích, truy vết ngược theo bảng này để dựng lại đường đi hoàn chỉnh.</a:t>
            </a:r>
            <a:endParaRPr lang="en-US" sz="1350" dirty="0"/>
          </a:p>
        </p:txBody>
      </p:sp>
      <p:sp>
        <p:nvSpPr>
          <p:cNvPr id="13" name="Text 11"/>
          <p:cNvSpPr txBox="1"/>
          <p:nvPr/>
        </p:nvSpPr>
        <p:spPr>
          <a:xfrm>
            <a:off x="566928" y="5349240"/>
            <a:ext cx="11064240" cy="411480"/>
          </a:xfrm>
          <a:prstGeom prst="rect">
            <a:avLst/>
          </a:prstGeom>
          <a:noFill/>
          <a:ln/>
        </p:spPr>
        <p:txBody>
          <a:bodyPr wrap="square" lIns="0" tIns="0" rIns="0" bIns="0" rtlCol="0" anchor="ctr"/>
          <a:lstStyle/>
          <a:p>
            <a:pPr indent="0" marL="0">
              <a:buNone/>
            </a:pPr>
            <a:r>
              <a:rPr lang="en-US" sz="1400" b="1" i="1" dirty="0">
                <a:solidFill>
                  <a:srgbClr val="065A82"/>
                </a:solidFill>
              </a:rPr>
              <a:t>Hệ quả thiết kế: năm thuật toán trong mã nguồn gần như giống hệt nhau, chỉ khác khoá sắp xếp frontier.</a:t>
            </a:r>
            <a:endParaRPr lang="en-US" sz="1400" dirty="0"/>
          </a:p>
        </p:txBody>
      </p:sp>
      <p:sp>
        <p:nvSpPr>
          <p:cNvPr id="15"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005840" y="2606040"/>
            <a:ext cx="10149840" cy="1097280"/>
          </a:xfrm>
          <a:prstGeom prst="rect">
            <a:avLst/>
          </a:prstGeom>
          <a:noFill/>
          <a:ln/>
        </p:spPr>
        <p:txBody>
          <a:bodyPr wrap="square" rtlCol="0" anchor="ctr"/>
          <a:lstStyle/>
          <a:p>
            <a:pPr algn="l" indent="0" marL="0">
              <a:buNone/>
            </a:pPr>
            <a:r>
              <a:rPr lang="en-US" sz="3600" b="1" dirty="0">
                <a:solidFill>
                  <a:srgbClr val="FFFFFF"/>
                </a:solidFill>
              </a:rPr>
              <a:t>02  ·  Năm thuật toán tìm kiếm</a:t>
            </a:r>
            <a:endParaRPr lang="en-US" sz="3600" dirty="0"/>
          </a:p>
        </p:txBody>
      </p:sp>
      <p:sp>
        <p:nvSpPr>
          <p:cNvPr id="3" name="Text 0"/>
          <p:cNvSpPr/>
          <p:nvPr>
            <p:ph idx="101" type="body" hasCustomPrompt="1"/>
          </p:nvPr>
        </p:nvSpPr>
        <p:spPr>
          <a:xfrm>
            <a:off x="1005840" y="3749040"/>
            <a:ext cx="10149840" cy="914400"/>
          </a:xfrm>
          <a:prstGeom prst="rect">
            <a:avLst/>
          </a:prstGeom>
          <a:noFill/>
          <a:ln/>
        </p:spPr>
        <p:txBody>
          <a:bodyPr wrap="square" rtlCol="0" anchor="t"/>
          <a:lstStyle/>
          <a:p>
            <a:pPr algn="l" indent="0" marL="0">
              <a:buNone/>
            </a:pPr>
            <a:r>
              <a:rPr lang="en-US" sz="1600" dirty="0">
                <a:solidFill>
                  <a:srgbClr val="CFE1EC"/>
                </a:solidFill>
              </a:rPr>
              <a:t>Hai nhóm: tìm kiếm mù (không dùng thông tin về đích) và tìm kiếm có thông tin (dùng heuristic)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Nhóm 1 — Tìm kiếm mù (uninformed search)</a:t>
            </a:r>
            <a:endParaRPr lang="en-US" sz="3200" dirty="0"/>
          </a:p>
        </p:txBody>
      </p:sp>
      <p:sp>
        <p:nvSpPr>
          <p:cNvPr id="3" name="blind-0"/>
          <p:cNvSpPr/>
          <p:nvPr/>
        </p:nvSpPr>
        <p:spPr>
          <a:xfrm>
            <a:off x="566928" y="1298448"/>
            <a:ext cx="3456432" cy="3931920"/>
          </a:xfrm>
          <a:prstGeom prst="roundRect">
            <a:avLst>
              <a:gd name="adj" fmla="val 2646"/>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4" name="blind-badge-0"/>
          <p:cNvSpPr/>
          <p:nvPr/>
        </p:nvSpPr>
        <p:spPr>
          <a:xfrm>
            <a:off x="822960" y="1536192"/>
            <a:ext cx="457200" cy="457200"/>
          </a:xfrm>
          <a:prstGeom prst="ellipse">
            <a:avLst/>
          </a:prstGeom>
          <a:solidFill>
            <a:srgbClr val="1C7293"/>
          </a:solidFill>
          <a:ln w="12700">
            <a:solidFill>
              <a:srgbClr val="1C7293"/>
            </a:solidFill>
            <a:prstDash val="solid"/>
          </a:ln>
        </p:spPr>
      </p:sp>
      <p:sp>
        <p:nvSpPr>
          <p:cNvPr id="5" name="Text 3"/>
          <p:cNvSpPr txBox="1"/>
          <p:nvPr/>
        </p:nvSpPr>
        <p:spPr>
          <a:xfrm>
            <a:off x="822960" y="1536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408176" y="1517904"/>
            <a:ext cx="2377440" cy="475488"/>
          </a:xfrm>
          <a:prstGeom prst="rect">
            <a:avLst/>
          </a:prstGeom>
          <a:noFill/>
          <a:ln/>
        </p:spPr>
        <p:txBody>
          <a:bodyPr wrap="square" lIns="0" tIns="0" rIns="0" bIns="0" rtlCol="0" anchor="ctr"/>
          <a:lstStyle/>
          <a:p>
            <a:pPr indent="0" marL="0">
              <a:buNone/>
            </a:pPr>
            <a:r>
              <a:rPr lang="en-US" sz="2400" b="1" dirty="0">
                <a:solidFill>
                  <a:srgbClr val="1C7293"/>
                </a:solidFill>
              </a:rPr>
              <a:t>BFS</a:t>
            </a:r>
            <a:endParaRPr lang="en-US" sz="2400" dirty="0"/>
          </a:p>
        </p:txBody>
      </p:sp>
      <p:sp>
        <p:nvSpPr>
          <p:cNvPr id="7" name="Text 5"/>
          <p:cNvSpPr txBox="1"/>
          <p:nvPr/>
        </p:nvSpPr>
        <p:spPr>
          <a:xfrm>
            <a:off x="822960" y="2103120"/>
            <a:ext cx="2944368" cy="457200"/>
          </a:xfrm>
          <a:prstGeom prst="rect">
            <a:avLst/>
          </a:prstGeom>
          <a:noFill/>
          <a:ln/>
        </p:spPr>
        <p:txBody>
          <a:bodyPr wrap="square" lIns="0" tIns="0" rIns="0" bIns="0" rtlCol="0" anchor="ctr"/>
          <a:lstStyle/>
          <a:p>
            <a:pPr indent="0" marL="0">
              <a:buNone/>
            </a:pPr>
            <a:r>
              <a:rPr lang="en-US" sz="1300" i="1" dirty="0">
                <a:solidFill>
                  <a:srgbClr val="6B7C8C"/>
                </a:solidFill>
              </a:rPr>
              <a:t>Hàng đợi FIFO</a:t>
            </a:r>
            <a:endParaRPr lang="en-US" sz="1300" dirty="0"/>
          </a:p>
        </p:txBody>
      </p:sp>
      <p:sp>
        <p:nvSpPr>
          <p:cNvPr id="8" name="Text 6"/>
          <p:cNvSpPr txBox="1"/>
          <p:nvPr/>
        </p:nvSpPr>
        <p:spPr>
          <a:xfrm>
            <a:off x="822960" y="2633472"/>
            <a:ext cx="2944368" cy="2377440"/>
          </a:xfrm>
          <a:prstGeom prst="rect">
            <a:avLst/>
          </a:prstGeom>
          <a:noFill/>
          <a:ln/>
        </p:spPr>
        <p:txBody>
          <a:bodyPr wrap="square" rtlCol="0" anchor="t"/>
          <a:lstStyle/>
          <a:p>
            <a:pPr marL="342900" indent="-342900">
              <a:spcAft>
                <a:spcPts val="800"/>
              </a:spcAft>
              <a:buSzPct val="100000"/>
              <a:buChar char="•"/>
            </a:pPr>
            <a:r>
              <a:rPr lang="en-US" sz="1350" dirty="0">
                <a:solidFill>
                  <a:srgbClr val="32414F"/>
                </a:solidFill>
              </a:rPr>
              <a:t>Mở rộng hết độ sâu d rồi mới sang d + 1</a:t>
            </a:r>
            <a:endParaRPr lang="en-US" sz="1350" dirty="0"/>
          </a:p>
          <a:p>
            <a:pPr marL="342900" indent="-342900">
              <a:spcAft>
                <a:spcPts val="800"/>
              </a:spcAft>
              <a:buSzPct val="100000"/>
              <a:buChar char="•"/>
            </a:pPr>
            <a:r>
              <a:rPr lang="en-US" sz="1350" dirty="0">
                <a:solidFill>
                  <a:srgbClr val="32414F"/>
                </a:solidFill>
              </a:rPr>
              <a:t>Tối ưu về SỐ BƯỚC, không phải về CHI PHÍ</a:t>
            </a:r>
            <a:endParaRPr lang="en-US" sz="1350" dirty="0"/>
          </a:p>
          <a:p>
            <a:pPr marL="342900" indent="-342900">
              <a:spcAft>
                <a:spcPts val="800"/>
              </a:spcAft>
              <a:buSzPct val="100000"/>
              <a:buChar char="•"/>
            </a:pPr>
            <a:r>
              <a:rPr lang="en-US" sz="1350" dirty="0">
                <a:solidFill>
                  <a:srgbClr val="32414F"/>
                </a:solidFill>
              </a:rPr>
              <a:t>Tốn bộ nhớ: O(b^d)</a:t>
            </a:r>
            <a:endParaRPr lang="en-US" sz="1350" dirty="0"/>
          </a:p>
        </p:txBody>
      </p:sp>
      <p:sp>
        <p:nvSpPr>
          <p:cNvPr id="9" name="blind-1"/>
          <p:cNvSpPr/>
          <p:nvPr/>
        </p:nvSpPr>
        <p:spPr>
          <a:xfrm>
            <a:off x="4297680" y="1298448"/>
            <a:ext cx="3456432" cy="3931920"/>
          </a:xfrm>
          <a:prstGeom prst="roundRect">
            <a:avLst>
              <a:gd name="adj" fmla="val 2646"/>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10" name="blind-badge-1"/>
          <p:cNvSpPr/>
          <p:nvPr/>
        </p:nvSpPr>
        <p:spPr>
          <a:xfrm>
            <a:off x="4553712" y="1536192"/>
            <a:ext cx="457200" cy="457200"/>
          </a:xfrm>
          <a:prstGeom prst="ellipse">
            <a:avLst/>
          </a:prstGeom>
          <a:solidFill>
            <a:srgbClr val="6B7C8C"/>
          </a:solidFill>
          <a:ln w="12700">
            <a:solidFill>
              <a:srgbClr val="6B7C8C"/>
            </a:solidFill>
            <a:prstDash val="solid"/>
          </a:ln>
        </p:spPr>
      </p:sp>
      <p:sp>
        <p:nvSpPr>
          <p:cNvPr id="11" name="Text 9"/>
          <p:cNvSpPr txBox="1"/>
          <p:nvPr/>
        </p:nvSpPr>
        <p:spPr>
          <a:xfrm>
            <a:off x="4553712" y="1536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5138928" y="1517904"/>
            <a:ext cx="2377440" cy="475488"/>
          </a:xfrm>
          <a:prstGeom prst="rect">
            <a:avLst/>
          </a:prstGeom>
          <a:noFill/>
          <a:ln/>
        </p:spPr>
        <p:txBody>
          <a:bodyPr wrap="square" lIns="0" tIns="0" rIns="0" bIns="0" rtlCol="0" anchor="ctr"/>
          <a:lstStyle/>
          <a:p>
            <a:pPr indent="0" marL="0">
              <a:buNone/>
            </a:pPr>
            <a:r>
              <a:rPr lang="en-US" sz="2400" b="1" dirty="0">
                <a:solidFill>
                  <a:srgbClr val="6B7C8C"/>
                </a:solidFill>
              </a:rPr>
              <a:t>DFS</a:t>
            </a:r>
            <a:endParaRPr lang="en-US" sz="2400" dirty="0"/>
          </a:p>
        </p:txBody>
      </p:sp>
      <p:sp>
        <p:nvSpPr>
          <p:cNvPr id="13" name="Text 11"/>
          <p:cNvSpPr txBox="1"/>
          <p:nvPr/>
        </p:nvSpPr>
        <p:spPr>
          <a:xfrm>
            <a:off x="4553712" y="2103120"/>
            <a:ext cx="2944368" cy="457200"/>
          </a:xfrm>
          <a:prstGeom prst="rect">
            <a:avLst/>
          </a:prstGeom>
          <a:noFill/>
          <a:ln/>
        </p:spPr>
        <p:txBody>
          <a:bodyPr wrap="square" lIns="0" tIns="0" rIns="0" bIns="0" rtlCol="0" anchor="ctr"/>
          <a:lstStyle/>
          <a:p>
            <a:pPr indent="0" marL="0">
              <a:buNone/>
            </a:pPr>
            <a:r>
              <a:rPr lang="en-US" sz="1300" i="1" dirty="0">
                <a:solidFill>
                  <a:srgbClr val="6B7C8C"/>
                </a:solidFill>
              </a:rPr>
              <a:t>Ngăn xếp LIFO</a:t>
            </a:r>
            <a:endParaRPr lang="en-US" sz="1300" dirty="0"/>
          </a:p>
        </p:txBody>
      </p:sp>
      <p:sp>
        <p:nvSpPr>
          <p:cNvPr id="14" name="Text 12"/>
          <p:cNvSpPr txBox="1"/>
          <p:nvPr/>
        </p:nvSpPr>
        <p:spPr>
          <a:xfrm>
            <a:off x="4553712" y="2633472"/>
            <a:ext cx="2944368" cy="2377440"/>
          </a:xfrm>
          <a:prstGeom prst="rect">
            <a:avLst/>
          </a:prstGeom>
          <a:noFill/>
          <a:ln/>
        </p:spPr>
        <p:txBody>
          <a:bodyPr wrap="square" rtlCol="0" anchor="t"/>
          <a:lstStyle/>
          <a:p>
            <a:pPr marL="342900" indent="-342900">
              <a:spcAft>
                <a:spcPts val="800"/>
              </a:spcAft>
              <a:buSzPct val="100000"/>
              <a:buChar char="•"/>
            </a:pPr>
            <a:r>
              <a:rPr lang="en-US" sz="1350" dirty="0">
                <a:solidFill>
                  <a:srgbClr val="32414F"/>
                </a:solidFill>
              </a:rPr>
              <a:t>Đi sâu tối đa một nhánh rồi mới quay lui</a:t>
            </a:r>
            <a:endParaRPr lang="en-US" sz="1350" dirty="0"/>
          </a:p>
          <a:p>
            <a:pPr marL="342900" indent="-342900">
              <a:spcAft>
                <a:spcPts val="800"/>
              </a:spcAft>
              <a:buSzPct val="100000"/>
              <a:buChar char="•"/>
            </a:pPr>
            <a:r>
              <a:rPr lang="en-US" sz="1350" dirty="0">
                <a:solidFill>
                  <a:srgbClr val="32414F"/>
                </a:solidFill>
              </a:rPr>
              <a:t>Rất tiết kiệm bộ nhớ: O(b·m)</a:t>
            </a:r>
            <a:endParaRPr lang="en-US" sz="1350" dirty="0"/>
          </a:p>
          <a:p>
            <a:pPr marL="342900" indent="-342900">
              <a:spcAft>
                <a:spcPts val="800"/>
              </a:spcAft>
              <a:buSzPct val="100000"/>
              <a:buChar char="•"/>
            </a:pPr>
            <a:r>
              <a:rPr lang="en-US" sz="1350" dirty="0">
                <a:solidFill>
                  <a:srgbClr val="32414F"/>
                </a:solidFill>
              </a:rPr>
              <a:t>Không tối ưu — đường đi thường rất dài</a:t>
            </a:r>
            <a:endParaRPr lang="en-US" sz="1350" dirty="0"/>
          </a:p>
        </p:txBody>
      </p:sp>
      <p:sp>
        <p:nvSpPr>
          <p:cNvPr id="15" name="blind-2"/>
          <p:cNvSpPr/>
          <p:nvPr/>
        </p:nvSpPr>
        <p:spPr>
          <a:xfrm>
            <a:off x="8028432" y="1298448"/>
            <a:ext cx="3456432" cy="3931920"/>
          </a:xfrm>
          <a:prstGeom prst="roundRect">
            <a:avLst>
              <a:gd name="adj" fmla="val 2646"/>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16" name="blind-badge-2"/>
          <p:cNvSpPr/>
          <p:nvPr/>
        </p:nvSpPr>
        <p:spPr>
          <a:xfrm>
            <a:off x="8284464" y="1536192"/>
            <a:ext cx="457200" cy="457200"/>
          </a:xfrm>
          <a:prstGeom prst="ellipse">
            <a:avLst/>
          </a:prstGeom>
          <a:solidFill>
            <a:srgbClr val="065A82"/>
          </a:solidFill>
          <a:ln w="12700">
            <a:solidFill>
              <a:srgbClr val="065A82"/>
            </a:solidFill>
            <a:prstDash val="solid"/>
          </a:ln>
        </p:spPr>
      </p:sp>
      <p:sp>
        <p:nvSpPr>
          <p:cNvPr id="17" name="Text 15"/>
          <p:cNvSpPr txBox="1"/>
          <p:nvPr/>
        </p:nvSpPr>
        <p:spPr>
          <a:xfrm>
            <a:off x="8284464" y="1536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8" name="Text 16"/>
          <p:cNvSpPr txBox="1"/>
          <p:nvPr/>
        </p:nvSpPr>
        <p:spPr>
          <a:xfrm>
            <a:off x="8869680" y="1517904"/>
            <a:ext cx="2377440" cy="475488"/>
          </a:xfrm>
          <a:prstGeom prst="rect">
            <a:avLst/>
          </a:prstGeom>
          <a:noFill/>
          <a:ln/>
        </p:spPr>
        <p:txBody>
          <a:bodyPr wrap="square" lIns="0" tIns="0" rIns="0" bIns="0" rtlCol="0" anchor="ctr"/>
          <a:lstStyle/>
          <a:p>
            <a:pPr indent="0" marL="0">
              <a:buNone/>
            </a:pPr>
            <a:r>
              <a:rPr lang="en-US" sz="2400" b="1" dirty="0">
                <a:solidFill>
                  <a:srgbClr val="065A82"/>
                </a:solidFill>
              </a:rPr>
              <a:t>UCS</a:t>
            </a:r>
            <a:endParaRPr lang="en-US" sz="2400" dirty="0"/>
          </a:p>
        </p:txBody>
      </p:sp>
      <p:sp>
        <p:nvSpPr>
          <p:cNvPr id="19" name="Text 17"/>
          <p:cNvSpPr txBox="1"/>
          <p:nvPr/>
        </p:nvSpPr>
        <p:spPr>
          <a:xfrm>
            <a:off x="8284464" y="2103120"/>
            <a:ext cx="2944368" cy="457200"/>
          </a:xfrm>
          <a:prstGeom prst="rect">
            <a:avLst/>
          </a:prstGeom>
          <a:noFill/>
          <a:ln/>
        </p:spPr>
        <p:txBody>
          <a:bodyPr wrap="square" lIns="0" tIns="0" rIns="0" bIns="0" rtlCol="0" anchor="ctr"/>
          <a:lstStyle/>
          <a:p>
            <a:pPr indent="0" marL="0">
              <a:buNone/>
            </a:pPr>
            <a:r>
              <a:rPr lang="en-US" sz="1300" i="1" dirty="0">
                <a:solidFill>
                  <a:srgbClr val="6B7C8C"/>
                </a:solidFill>
              </a:rPr>
              <a:t>Hàng đợi ưu tiên theo g(n)</a:t>
            </a:r>
            <a:endParaRPr lang="en-US" sz="1300" dirty="0"/>
          </a:p>
        </p:txBody>
      </p:sp>
      <p:sp>
        <p:nvSpPr>
          <p:cNvPr id="20" name="Text 18"/>
          <p:cNvSpPr txBox="1"/>
          <p:nvPr/>
        </p:nvSpPr>
        <p:spPr>
          <a:xfrm>
            <a:off x="8284464" y="2633472"/>
            <a:ext cx="2944368" cy="2377440"/>
          </a:xfrm>
          <a:prstGeom prst="rect">
            <a:avLst/>
          </a:prstGeom>
          <a:noFill/>
          <a:ln/>
        </p:spPr>
        <p:txBody>
          <a:bodyPr wrap="square" rtlCol="0" anchor="t"/>
          <a:lstStyle/>
          <a:p>
            <a:pPr marL="342900" indent="-342900">
              <a:spcAft>
                <a:spcPts val="800"/>
              </a:spcAft>
              <a:buSzPct val="100000"/>
              <a:buChar char="•"/>
            </a:pPr>
            <a:r>
              <a:rPr lang="en-US" sz="1350" dirty="0">
                <a:solidFill>
                  <a:srgbClr val="32414F"/>
                </a:solidFill>
              </a:rPr>
              <a:t>Luôn mở rộng nút có chi phí tích luỹ nhỏ nhất</a:t>
            </a:r>
            <a:endParaRPr lang="en-US" sz="1350" dirty="0"/>
          </a:p>
          <a:p>
            <a:pPr marL="342900" indent="-342900">
              <a:spcAft>
                <a:spcPts val="800"/>
              </a:spcAft>
              <a:buSzPct val="100000"/>
              <a:buChar char="•"/>
            </a:pPr>
            <a:r>
              <a:rPr lang="en-US" sz="1350" dirty="0">
                <a:solidFill>
                  <a:srgbClr val="32414F"/>
                </a:solidFill>
              </a:rPr>
              <a:t>ĐẦY ĐỦ và TỐI ƯU với mọi chi phí dương</a:t>
            </a:r>
            <a:endParaRPr lang="en-US" sz="1350" dirty="0"/>
          </a:p>
          <a:p>
            <a:pPr marL="342900" indent="-342900">
              <a:spcAft>
                <a:spcPts val="800"/>
              </a:spcAft>
              <a:buSzPct val="100000"/>
              <a:buChar char="•"/>
            </a:pPr>
            <a:r>
              <a:rPr lang="en-US" sz="1350" dirty="0">
                <a:solidFill>
                  <a:srgbClr val="32414F"/>
                </a:solidFill>
              </a:rPr>
              <a:t>Chính là thuật toán Dijkstra</a:t>
            </a:r>
            <a:endParaRPr lang="en-US" sz="1350" dirty="0"/>
          </a:p>
        </p:txBody>
      </p:sp>
      <p:sp>
        <p:nvSpPr>
          <p:cNvPr id="21" name="Text 19"/>
          <p:cNvSpPr txBox="1"/>
          <p:nvPr/>
        </p:nvSpPr>
        <p:spPr>
          <a:xfrm>
            <a:off x="566928" y="5413248"/>
            <a:ext cx="11064240" cy="411480"/>
          </a:xfrm>
          <a:prstGeom prst="rect">
            <a:avLst/>
          </a:prstGeom>
          <a:noFill/>
          <a:ln/>
        </p:spPr>
        <p:txBody>
          <a:bodyPr wrap="square" lIns="0" tIns="0" rIns="0" bIns="0" rtlCol="0" anchor="ctr"/>
          <a:lstStyle/>
          <a:p>
            <a:pPr indent="0" marL="0">
              <a:buNone/>
            </a:pPr>
            <a:r>
              <a:rPr lang="en-US" sz="1400" i="1" dirty="0">
                <a:solidFill>
                  <a:srgbClr val="6B7C8C"/>
                </a:solidFill>
              </a:rPr>
              <a:t>Điểm chung: cả ba đều không biết gì về vị trí của đích, nên phải lan toả theo mọi hướng.</a:t>
            </a:r>
            <a:endParaRPr lang="en-US" sz="1400" dirty="0"/>
          </a:p>
        </p:txBody>
      </p:sp>
      <p:sp>
        <p:nvSpPr>
          <p:cNvPr id="22"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Nhóm 2 — Tìm kiếm có thông tin (informed search)</a:t>
            </a:r>
            <a:endParaRPr lang="en-US" sz="3200" dirty="0"/>
          </a:p>
        </p:txBody>
      </p:sp>
      <p:sp>
        <p:nvSpPr>
          <p:cNvPr id="3" name="greedy-card"/>
          <p:cNvSpPr/>
          <p:nvPr/>
        </p:nvSpPr>
        <p:spPr>
          <a:xfrm>
            <a:off x="566928" y="1280160"/>
            <a:ext cx="5486400" cy="182880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4" name="Text 2"/>
          <p:cNvSpPr txBox="1"/>
          <p:nvPr/>
        </p:nvSpPr>
        <p:spPr>
          <a:xfrm>
            <a:off x="868680" y="1463040"/>
            <a:ext cx="4937760" cy="411480"/>
          </a:xfrm>
          <a:prstGeom prst="rect">
            <a:avLst/>
          </a:prstGeom>
          <a:noFill/>
          <a:ln/>
        </p:spPr>
        <p:txBody>
          <a:bodyPr wrap="square" lIns="0" tIns="0" rIns="0" bIns="0" rtlCol="0" anchor="ctr"/>
          <a:lstStyle/>
          <a:p>
            <a:pPr indent="0" marL="0">
              <a:buNone/>
            </a:pPr>
            <a:r>
              <a:rPr lang="en-US" sz="2000" b="1" dirty="0">
                <a:solidFill>
                  <a:srgbClr val="E8A33D"/>
                </a:solidFill>
              </a:rPr>
              <a:t>Greedy Best-First Search</a:t>
            </a:r>
            <a:endParaRPr lang="en-US" sz="2000" dirty="0"/>
          </a:p>
        </p:txBody>
      </p:sp>
      <p:sp>
        <p:nvSpPr>
          <p:cNvPr id="5" name="Text 3"/>
          <p:cNvSpPr txBox="1"/>
          <p:nvPr/>
        </p:nvSpPr>
        <p:spPr>
          <a:xfrm>
            <a:off x="868680" y="1920240"/>
            <a:ext cx="4937760" cy="731520"/>
          </a:xfrm>
          <a:prstGeom prst="rect">
            <a:avLst/>
          </a:prstGeom>
          <a:noFill/>
          <a:ln/>
        </p:spPr>
        <p:txBody>
          <a:bodyPr wrap="square" lIns="0" tIns="0" rIns="0" bIns="0" rtlCol="0" anchor="ctr"/>
          <a:lstStyle/>
          <a:p>
            <a:pPr indent="0" marL="0">
              <a:buNone/>
            </a:pPr>
            <a:r>
              <a:rPr lang="en-US" sz="1400" dirty="0">
                <a:solidFill>
                  <a:srgbClr val="32414F"/>
                </a:solidFill>
              </a:rPr>
              <a:t>Sắp xếp frontier chỉ theo h(n) — bỏ qua hoàn toàn chi phí đã đi g(n). Luôn lao về phía có vẻ gần đích nhất.</a:t>
            </a:r>
            <a:endParaRPr lang="en-US" sz="1400" dirty="0"/>
          </a:p>
        </p:txBody>
      </p:sp>
      <p:sp>
        <p:nvSpPr>
          <p:cNvPr id="6" name="Text 4"/>
          <p:cNvSpPr txBox="1"/>
          <p:nvPr/>
        </p:nvSpPr>
        <p:spPr>
          <a:xfrm>
            <a:off x="868680" y="2633472"/>
            <a:ext cx="4937760" cy="347472"/>
          </a:xfrm>
          <a:prstGeom prst="rect">
            <a:avLst/>
          </a:prstGeom>
          <a:noFill/>
          <a:ln/>
        </p:spPr>
        <p:txBody>
          <a:bodyPr wrap="square" lIns="0" tIns="0" rIns="0" bIns="0" rtlCol="0" anchor="ctr"/>
          <a:lstStyle/>
          <a:p>
            <a:pPr indent="0" marL="0">
              <a:buNone/>
            </a:pPr>
            <a:r>
              <a:rPr lang="en-US" sz="1400" b="1" dirty="0">
                <a:solidFill>
                  <a:srgbClr val="C94F4F"/>
                </a:solidFill>
              </a:rPr>
              <a:t>→ Rất nhanh, nhưng KHÔNG tối ưu</a:t>
            </a:r>
            <a:endParaRPr lang="en-US" sz="1400" dirty="0"/>
          </a:p>
        </p:txBody>
      </p:sp>
      <p:sp>
        <p:nvSpPr>
          <p:cNvPr id="7" name="astar-card"/>
          <p:cNvSpPr/>
          <p:nvPr/>
        </p:nvSpPr>
        <p:spPr>
          <a:xfrm>
            <a:off x="6309360" y="1280160"/>
            <a:ext cx="5303520" cy="1828800"/>
          </a:xfrm>
          <a:prstGeom prst="roundRect">
            <a:avLst>
              <a:gd name="adj" fmla="val 5000"/>
            </a:avLst>
          </a:prstGeom>
          <a:solidFill>
            <a:srgbClr val="065A82"/>
          </a:solidFill>
          <a:ln w="12700">
            <a:solidFill>
              <a:srgbClr val="065A82"/>
            </a:solidFill>
            <a:prstDash val="solid"/>
          </a:ln>
          <a:effectLst>
            <a:outerShdw sx="100000" sy="100000" kx="0" ky="0" algn="bl" rotWithShape="0" blurRad="127000" dist="25400" dir="5400000">
              <a:srgbClr val="16203F">
                <a:alpha val="12000"/>
              </a:srgbClr>
            </a:outerShdw>
          </a:effectLst>
        </p:spPr>
      </p:sp>
      <p:sp>
        <p:nvSpPr>
          <p:cNvPr id="8" name="Text 6"/>
          <p:cNvSpPr txBox="1"/>
          <p:nvPr/>
        </p:nvSpPr>
        <p:spPr>
          <a:xfrm>
            <a:off x="6611112" y="1463040"/>
            <a:ext cx="4754880" cy="411480"/>
          </a:xfrm>
          <a:prstGeom prst="rect">
            <a:avLst/>
          </a:prstGeom>
          <a:noFill/>
          <a:ln/>
        </p:spPr>
        <p:txBody>
          <a:bodyPr wrap="square" lIns="0" tIns="0" rIns="0" bIns="0" rtlCol="0" anchor="ctr"/>
          <a:lstStyle/>
          <a:p>
            <a:pPr indent="0" marL="0">
              <a:buNone/>
            </a:pPr>
            <a:r>
              <a:rPr lang="en-US" sz="2000" b="1" dirty="0">
                <a:solidFill>
                  <a:srgbClr val="FFFFFF"/>
                </a:solidFill>
              </a:rPr>
              <a:t>A* Search</a:t>
            </a:r>
            <a:endParaRPr lang="en-US" sz="2000" dirty="0"/>
          </a:p>
        </p:txBody>
      </p:sp>
      <p:sp>
        <p:nvSpPr>
          <p:cNvPr id="9" name="Text 7"/>
          <p:cNvSpPr txBox="1"/>
          <p:nvPr/>
        </p:nvSpPr>
        <p:spPr>
          <a:xfrm>
            <a:off x="6611112" y="1920240"/>
            <a:ext cx="4754880" cy="731520"/>
          </a:xfrm>
          <a:prstGeom prst="rect">
            <a:avLst/>
          </a:prstGeom>
          <a:noFill/>
          <a:ln/>
        </p:spPr>
        <p:txBody>
          <a:bodyPr wrap="square" lIns="0" tIns="0" rIns="0" bIns="0" rtlCol="0" anchor="ctr"/>
          <a:lstStyle/>
          <a:p>
            <a:pPr indent="0" marL="0">
              <a:buNone/>
            </a:pPr>
            <a:r>
              <a:rPr lang="en-US" sz="1400" dirty="0">
                <a:solidFill>
                  <a:srgbClr val="CFE1EC"/>
                </a:solidFill>
              </a:rPr>
              <a:t>Kết hợp cả hai nguồn thông tin: chi phí thực tế đã đi cộng với chi phí ước lượng còn lại.</a:t>
            </a:r>
            <a:endParaRPr lang="en-US" sz="1400" dirty="0"/>
          </a:p>
        </p:txBody>
      </p:sp>
      <p:sp>
        <p:nvSpPr>
          <p:cNvPr id="10" name="Text 8"/>
          <p:cNvSpPr txBox="1"/>
          <p:nvPr/>
        </p:nvSpPr>
        <p:spPr>
          <a:xfrm>
            <a:off x="6611112" y="2633472"/>
            <a:ext cx="4754880" cy="347472"/>
          </a:xfrm>
          <a:prstGeom prst="rect">
            <a:avLst/>
          </a:prstGeom>
          <a:noFill/>
          <a:ln/>
        </p:spPr>
        <p:txBody>
          <a:bodyPr wrap="square" lIns="0" tIns="0" rIns="0" bIns="0" rtlCol="0" anchor="ctr"/>
          <a:lstStyle/>
          <a:p>
            <a:pPr indent="0" marL="0">
              <a:buNone/>
            </a:pPr>
            <a:r>
              <a:rPr lang="en-US" sz="1400" b="1" dirty="0">
                <a:solidFill>
                  <a:srgbClr val="E8A33D"/>
                </a:solidFill>
              </a:rPr>
              <a:t>→ Tối ưu khi h chấp nhận được</a:t>
            </a:r>
            <a:endParaRPr lang="en-US" sz="1400" dirty="0"/>
          </a:p>
        </p:txBody>
      </p:sp>
      <p:sp>
        <p:nvSpPr>
          <p:cNvPr id="11" name="formula-card"/>
          <p:cNvSpPr/>
          <p:nvPr/>
        </p:nvSpPr>
        <p:spPr>
          <a:xfrm>
            <a:off x="566928" y="3310128"/>
            <a:ext cx="11045952" cy="1024128"/>
          </a:xfrm>
          <a:prstGeom prst="roundRect">
            <a:avLst>
              <a:gd name="adj" fmla="val 8929"/>
            </a:avLst>
          </a:prstGeom>
          <a:solidFill>
            <a:srgbClr val="16203F"/>
          </a:solidFill>
          <a:ln w="12700">
            <a:solidFill>
              <a:srgbClr val="16203F"/>
            </a:solidFill>
            <a:prstDash val="solid"/>
          </a:ln>
          <a:effectLst>
            <a:outerShdw sx="100000" sy="100000" kx="0" ky="0" algn="bl" rotWithShape="0" blurRad="127000" dist="25400" dir="5400000">
              <a:srgbClr val="16203F">
                <a:alpha val="12000"/>
              </a:srgbClr>
            </a:outerShdw>
          </a:effectLst>
        </p:spPr>
      </p:sp>
      <p:sp>
        <p:nvSpPr>
          <p:cNvPr id="12" name="Text 10"/>
          <p:cNvSpPr txBox="1"/>
          <p:nvPr/>
        </p:nvSpPr>
        <p:spPr>
          <a:xfrm>
            <a:off x="566928" y="3401568"/>
            <a:ext cx="11045952" cy="530352"/>
          </a:xfrm>
          <a:prstGeom prst="rect">
            <a:avLst/>
          </a:prstGeom>
          <a:noFill/>
          <a:ln/>
        </p:spPr>
        <p:txBody>
          <a:bodyPr wrap="square" lIns="0" tIns="0" rIns="0" bIns="0" rtlCol="0" anchor="ctr"/>
          <a:lstStyle/>
          <a:p>
            <a:pPr algn="ctr" indent="0" marL="0">
              <a:buNone/>
            </a:pPr>
            <a:r>
              <a:rPr lang="en-US" sz="3200" b="1" dirty="0">
                <a:solidFill>
                  <a:srgbClr val="FFFFFF"/>
                </a:solidFill>
              </a:rPr>
              <a:t>f(n) = </a:t>
            </a:r>
            <a:pPr algn="ctr" indent="0" marL="0">
              <a:buNone/>
            </a:pPr>
            <a:r>
              <a:rPr lang="en-US" sz="3200" b="1" dirty="0">
                <a:solidFill>
                  <a:srgbClr val="E8A33D"/>
                </a:solidFill>
              </a:rPr>
              <a:t>g(n)</a:t>
            </a:r>
            <a:pPr algn="ctr" indent="0" marL="0">
              <a:buNone/>
            </a:pPr>
            <a:r>
              <a:rPr lang="en-US" sz="3200" b="1" dirty="0">
                <a:solidFill>
                  <a:srgbClr val="FFFFFF"/>
                </a:solidFill>
              </a:rPr>
              <a:t> + </a:t>
            </a:r>
            <a:pPr algn="ctr" indent="0" marL="0">
              <a:buNone/>
            </a:pPr>
            <a:r>
              <a:rPr lang="en-US" sz="3200" b="1" dirty="0">
                <a:solidFill>
                  <a:srgbClr val="7FC4E8"/>
                </a:solidFill>
              </a:rPr>
              <a:t>h(n)</a:t>
            </a:r>
            <a:endParaRPr lang="en-US" sz="3200" dirty="0"/>
          </a:p>
        </p:txBody>
      </p:sp>
      <p:sp>
        <p:nvSpPr>
          <p:cNvPr id="13" name="Text 11"/>
          <p:cNvSpPr txBox="1"/>
          <p:nvPr/>
        </p:nvSpPr>
        <p:spPr>
          <a:xfrm>
            <a:off x="566928" y="3931920"/>
            <a:ext cx="11045952" cy="329184"/>
          </a:xfrm>
          <a:prstGeom prst="rect">
            <a:avLst/>
          </a:prstGeom>
          <a:noFill/>
          <a:ln/>
        </p:spPr>
        <p:txBody>
          <a:bodyPr wrap="square" lIns="0" tIns="0" rIns="0" bIns="0" rtlCol="0" anchor="ctr"/>
          <a:lstStyle/>
          <a:p>
            <a:pPr algn="ctr" indent="0" marL="0">
              <a:buNone/>
            </a:pPr>
            <a:r>
              <a:rPr lang="en-US" sz="1300" dirty="0">
                <a:solidFill>
                  <a:srgbClr val="E8A33D"/>
                </a:solidFill>
              </a:rPr>
              <a:t>g(n) = chi phí thực tế đã đi từ điểm xuất phát tới n</a:t>
            </a:r>
            <a:pPr algn="ctr" indent="0" marL="0">
              <a:buNone/>
            </a:pPr>
            <a:r>
              <a:rPr lang="en-US" sz="1300" dirty="0">
                <a:solidFill>
                  <a:srgbClr val="4A5A78"/>
                </a:solidFill>
              </a:rPr>
              <a:t>          |          </a:t>
            </a:r>
            <a:pPr algn="ctr" indent="0" marL="0">
              <a:buNone/>
            </a:pPr>
            <a:r>
              <a:rPr lang="en-US" sz="1300" dirty="0">
                <a:solidFill>
                  <a:srgbClr val="7FC4E8"/>
                </a:solidFill>
              </a:rPr>
              <a:t>h(n) = chi phí ƯỚC LƯỢNG còn lại từ n tới đích</a:t>
            </a:r>
            <a:endParaRPr lang="en-US" sz="1300" dirty="0"/>
          </a:p>
        </p:txBody>
      </p:sp>
      <p:sp>
        <p:nvSpPr>
          <p:cNvPr id="14" name="Text 12"/>
          <p:cNvSpPr txBox="1"/>
          <p:nvPr/>
        </p:nvSpPr>
        <p:spPr>
          <a:xfrm>
            <a:off x="566928" y="4553712"/>
            <a:ext cx="5394960" cy="365760"/>
          </a:xfrm>
          <a:prstGeom prst="rect">
            <a:avLst/>
          </a:prstGeom>
          <a:noFill/>
          <a:ln/>
        </p:spPr>
        <p:txBody>
          <a:bodyPr wrap="square" lIns="0" tIns="0" rIns="0" bIns="0" rtlCol="0" anchor="ctr"/>
          <a:lstStyle/>
          <a:p>
            <a:pPr indent="0" marL="0">
              <a:buNone/>
            </a:pPr>
            <a:r>
              <a:rPr lang="en-US" sz="1700" b="1" dirty="0">
                <a:solidFill>
                  <a:srgbClr val="16203F"/>
                </a:solidFill>
              </a:rPr>
              <a:t>Hai điều kiện của heuristic</a:t>
            </a:r>
            <a:endParaRPr lang="en-US" sz="1700" dirty="0"/>
          </a:p>
        </p:txBody>
      </p:sp>
      <p:sp>
        <p:nvSpPr>
          <p:cNvPr id="15" name="Text 13"/>
          <p:cNvSpPr txBox="1"/>
          <p:nvPr/>
        </p:nvSpPr>
        <p:spPr>
          <a:xfrm>
            <a:off x="566928" y="4937760"/>
            <a:ext cx="5394960" cy="1188720"/>
          </a:xfrm>
          <a:prstGeom prst="rect">
            <a:avLst/>
          </a:prstGeom>
          <a:noFill/>
          <a:ln/>
        </p:spPr>
        <p:txBody>
          <a:bodyPr wrap="square" rtlCol="0" anchor="t"/>
          <a:lstStyle/>
          <a:p>
            <a:pPr marL="342900" indent="-342900">
              <a:spcAft>
                <a:spcPts val="800"/>
              </a:spcAft>
              <a:buSzPct val="100000"/>
              <a:buChar char="•"/>
            </a:pPr>
            <a:r>
              <a:rPr lang="en-US" sz="1350" dirty="0">
                <a:solidFill>
                  <a:srgbClr val="32414F"/>
                </a:solidFill>
              </a:rPr>
              <a:t>Chấp nhận được (admissible): h(n) ≤ h*(n) — không bao giờ đánh giá quá cao. Điều kiện để A* tối ưu.</a:t>
            </a:r>
            <a:endParaRPr lang="en-US" sz="1350" dirty="0"/>
          </a:p>
          <a:p>
            <a:pPr marL="342900" indent="-342900">
              <a:buSzPct val="100000"/>
              <a:buChar char="•"/>
            </a:pPr>
            <a:r>
              <a:rPr lang="en-US" sz="1350" dirty="0">
                <a:solidFill>
                  <a:srgbClr val="32414F"/>
                </a:solidFill>
              </a:rPr>
              <a:t>Nhất quán (consistent): h(n) ≤ c(n, n′) + h(n′) — bảo đảm mỗi nút chỉ cần mở rộng một lần.</a:t>
            </a:r>
            <a:endParaRPr lang="en-US" sz="1350" dirty="0"/>
          </a:p>
        </p:txBody>
      </p:sp>
      <p:sp>
        <p:nvSpPr>
          <p:cNvPr id="16" name="Text 14"/>
          <p:cNvSpPr txBox="1"/>
          <p:nvPr/>
        </p:nvSpPr>
        <p:spPr>
          <a:xfrm>
            <a:off x="6309360" y="4553712"/>
            <a:ext cx="5303520" cy="365760"/>
          </a:xfrm>
          <a:prstGeom prst="rect">
            <a:avLst/>
          </a:prstGeom>
          <a:noFill/>
          <a:ln/>
        </p:spPr>
        <p:txBody>
          <a:bodyPr wrap="square" lIns="0" tIns="0" rIns="0" bIns="0" rtlCol="0" anchor="ctr"/>
          <a:lstStyle/>
          <a:p>
            <a:pPr indent="0" marL="0">
              <a:buNone/>
            </a:pPr>
            <a:r>
              <a:rPr lang="en-US" sz="1700" b="1" dirty="0">
                <a:solidFill>
                  <a:srgbClr val="16203F"/>
                </a:solidFill>
              </a:rPr>
              <a:t>Hai trường hợp suy biến</a:t>
            </a:r>
            <a:endParaRPr lang="en-US" sz="1700" dirty="0"/>
          </a:p>
        </p:txBody>
      </p:sp>
      <p:sp>
        <p:nvSpPr>
          <p:cNvPr id="17" name="Text 15"/>
          <p:cNvSpPr txBox="1"/>
          <p:nvPr/>
        </p:nvSpPr>
        <p:spPr>
          <a:xfrm>
            <a:off x="6309360" y="4937760"/>
            <a:ext cx="5303520" cy="1188720"/>
          </a:xfrm>
          <a:prstGeom prst="rect">
            <a:avLst/>
          </a:prstGeom>
          <a:noFill/>
          <a:ln/>
        </p:spPr>
        <p:txBody>
          <a:bodyPr wrap="square" rtlCol="0" anchor="t"/>
          <a:lstStyle/>
          <a:p>
            <a:pPr marL="342900" indent="-342900">
              <a:spcAft>
                <a:spcPts val="800"/>
              </a:spcAft>
              <a:buSzPct val="100000"/>
              <a:buChar char="•"/>
            </a:pPr>
            <a:r>
              <a:rPr lang="en-US" sz="1350" dirty="0">
                <a:solidFill>
                  <a:srgbClr val="32414F"/>
                </a:solidFill>
              </a:rPr>
              <a:t>Khi h(n) = 0 với mọi n  →  A* trở thành đúng UCS</a:t>
            </a:r>
            <a:endParaRPr lang="en-US" sz="1350" dirty="0"/>
          </a:p>
          <a:p>
            <a:pPr marL="342900" indent="-342900">
              <a:buSzPct val="100000"/>
              <a:buChar char="•"/>
            </a:pPr>
            <a:r>
              <a:rPr lang="en-US" sz="1350" dirty="0">
                <a:solidFill>
                  <a:srgbClr val="32414F"/>
                </a:solidFill>
              </a:rPr>
              <a:t>Khi bỏ g(n) đi  →  A* trở thành tìm kiếm tham lam</a:t>
            </a:r>
            <a:endParaRPr lang="en-US" sz="1350" dirty="0"/>
          </a:p>
        </p:txBody>
      </p:sp>
      <p:sp>
        <p:nvSpPr>
          <p:cNvPr id="19"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005840" y="2606040"/>
            <a:ext cx="10149840" cy="1097280"/>
          </a:xfrm>
          <a:prstGeom prst="rect">
            <a:avLst/>
          </a:prstGeom>
          <a:noFill/>
          <a:ln/>
        </p:spPr>
        <p:txBody>
          <a:bodyPr wrap="square" rtlCol="0" anchor="ctr"/>
          <a:lstStyle/>
          <a:p>
            <a:pPr algn="l" indent="0" marL="0">
              <a:buNone/>
            </a:pPr>
            <a:r>
              <a:rPr lang="en-US" sz="3600" b="1" dirty="0">
                <a:solidFill>
                  <a:srgbClr val="FFFFFF"/>
                </a:solidFill>
              </a:rPr>
              <a:t>03  ·  Ứng dụng đã xây dựng</a:t>
            </a:r>
            <a:endParaRPr lang="en-US" sz="3600" dirty="0"/>
          </a:p>
        </p:txBody>
      </p:sp>
      <p:sp>
        <p:nvSpPr>
          <p:cNvPr id="3" name="Text 0"/>
          <p:cNvSpPr/>
          <p:nvPr>
            <p:ph idx="101" type="body" hasCustomPrompt="1"/>
          </p:nvPr>
        </p:nvSpPr>
        <p:spPr>
          <a:xfrm>
            <a:off x="1005840" y="3749040"/>
            <a:ext cx="10149840" cy="914400"/>
          </a:xfrm>
          <a:prstGeom prst="rect">
            <a:avLst/>
          </a:prstGeom>
          <a:noFill/>
          <a:ln/>
        </p:spPr>
        <p:txBody>
          <a:bodyPr wrap="square" rtlCol="0" anchor="t"/>
          <a:lstStyle/>
          <a:p>
            <a:pPr algn="l" indent="0" marL="0">
              <a:buNone/>
            </a:pPr>
            <a:r>
              <a:rPr lang="en-US" sz="1600" dirty="0">
                <a:solidFill>
                  <a:srgbClr val="CFE1EC"/>
                </a:solidFill>
              </a:rPr>
              <a:t>Python 3 + Tkinter — chỉ dùng thư viện chuẩn, không cần cài gói phụ thuộc nào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Kiến trúc và quyết định thiết kế cốt lõi</a:t>
            </a:r>
            <a:endParaRPr lang="en-US" sz="3200" dirty="0"/>
          </a:p>
        </p:txBody>
      </p:sp>
      <p:sp>
        <p:nvSpPr>
          <p:cNvPr id="3" name="Text 1"/>
          <p:cNvSpPr txBox="1"/>
          <p:nvPr/>
        </p:nvSpPr>
        <p:spPr>
          <a:xfrm>
            <a:off x="566928" y="1188720"/>
            <a:ext cx="5577840" cy="365760"/>
          </a:xfrm>
          <a:prstGeom prst="rect">
            <a:avLst/>
          </a:prstGeom>
          <a:noFill/>
          <a:ln/>
        </p:spPr>
        <p:txBody>
          <a:bodyPr wrap="square" lIns="0" tIns="0" rIns="0" bIns="0" rtlCol="0" anchor="ctr"/>
          <a:lstStyle/>
          <a:p>
            <a:pPr indent="0" marL="0">
              <a:buNone/>
            </a:pPr>
            <a:r>
              <a:rPr lang="en-US" sz="1500" b="1" dirty="0">
                <a:solidFill>
                  <a:srgbClr val="16203F"/>
                </a:solidFill>
              </a:rPr>
              <a:t>Mọi bài toán chỉ cần cung cấp đúng bốn thành phần:</a:t>
            </a:r>
            <a:endParaRPr lang="en-US" sz="1500" dirty="0"/>
          </a:p>
        </p:txBody>
      </p:sp>
      <p:sp>
        <p:nvSpPr>
          <p:cNvPr id="4" name="iface-card"/>
          <p:cNvSpPr/>
          <p:nvPr/>
        </p:nvSpPr>
        <p:spPr>
          <a:xfrm>
            <a:off x="566928" y="1627632"/>
            <a:ext cx="5577840" cy="1783080"/>
          </a:xfrm>
          <a:prstGeom prst="roundRect">
            <a:avLst>
              <a:gd name="adj" fmla="val 5128"/>
            </a:avLst>
          </a:prstGeom>
          <a:solidFill>
            <a:srgbClr val="16203F"/>
          </a:solidFill>
          <a:ln w="12700">
            <a:solidFill>
              <a:srgbClr val="16203F"/>
            </a:solidFill>
            <a:prstDash val="solid"/>
          </a:ln>
          <a:effectLst>
            <a:outerShdw sx="100000" sy="100000" kx="0" ky="0" algn="bl" rotWithShape="0" blurRad="127000" dist="25400" dir="5400000">
              <a:srgbClr val="16203F">
                <a:alpha val="12000"/>
              </a:srgbClr>
            </a:outerShdw>
          </a:effectLst>
        </p:spPr>
      </p:sp>
      <p:sp>
        <p:nvSpPr>
          <p:cNvPr id="5" name="Text 3"/>
          <p:cNvSpPr txBox="1"/>
          <p:nvPr/>
        </p:nvSpPr>
        <p:spPr>
          <a:xfrm>
            <a:off x="841248" y="1783080"/>
            <a:ext cx="5120640" cy="1481328"/>
          </a:xfrm>
          <a:prstGeom prst="rect">
            <a:avLst/>
          </a:prstGeom>
          <a:noFill/>
          <a:ln/>
        </p:spPr>
        <p:txBody>
          <a:bodyPr wrap="square" lIns="0" tIns="0" rIns="0" bIns="0" rtlCol="0" anchor="ctr"/>
          <a:lstStyle/>
          <a:p>
            <a:pPr indent="0" marL="0">
              <a:buNone/>
            </a:pPr>
            <a:r>
              <a:rPr lang="en-US" sz="1250" dirty="0">
                <a:solidFill>
                  <a:srgbClr val="CFE1EC"/>
                </a:solidFill>
                <a:latin typeface="Courier New" pitchFamily="34" charset="0"/>
                <a:ea typeface="Courier New" pitchFamily="34" charset="-122"/>
                <a:cs typeface="Courier New" pitchFamily="34" charset="-120"/>
              </a:rPr>
              <a:t>class Problem:</a:t>
            </a:r>
            <a:endParaRPr lang="en-US" sz="1250" dirty="0"/>
          </a:p>
          <a:p>
            <a:pPr indent="0" marL="0">
              <a:buNone/>
            </a:pPr>
            <a:r>
              <a:rPr lang="en-US" sz="1250" dirty="0">
                <a:solidFill>
                  <a:srgbClr val="CFE1EC"/>
                </a:solidFill>
                <a:latin typeface="Courier New" pitchFamily="34" charset="0"/>
                <a:ea typeface="Courier New" pitchFamily="34" charset="-122"/>
                <a:cs typeface="Courier New" pitchFamily="34" charset="-120"/>
              </a:rPr>
              <a:t>    start                  # trạng thái bắt đầu</a:t>
            </a:r>
            <a:endParaRPr lang="en-US" sz="1250" dirty="0"/>
          </a:p>
          <a:p>
            <a:pPr indent="0" marL="0">
              <a:buNone/>
            </a:pPr>
            <a:r>
              <a:rPr lang="en-US" sz="1250" dirty="0">
                <a:solidFill>
                  <a:srgbClr val="CFE1EC"/>
                </a:solidFill>
                <a:latin typeface="Courier New" pitchFamily="34" charset="0"/>
                <a:ea typeface="Courier New" pitchFamily="34" charset="-122"/>
                <a:cs typeface="Courier New" pitchFamily="34" charset="-120"/>
              </a:rPr>
              <a:t>    def is_goal(self, s)   # -&gt; bool</a:t>
            </a:r>
            <a:endParaRPr lang="en-US" sz="1250" dirty="0"/>
          </a:p>
          <a:p>
            <a:pPr indent="0" marL="0">
              <a:buNone/>
            </a:pPr>
            <a:r>
              <a:rPr lang="en-US" sz="1250" dirty="0">
                <a:solidFill>
                  <a:srgbClr val="CFE1EC"/>
                </a:solidFill>
                <a:latin typeface="Courier New" pitchFamily="34" charset="0"/>
                <a:ea typeface="Courier New" pitchFamily="34" charset="-122"/>
                <a:cs typeface="Courier New" pitchFamily="34" charset="-120"/>
              </a:rPr>
              <a:t>    def neighbors(self, s) # -&gt; [(kế, chi_phí)]</a:t>
            </a:r>
            <a:endParaRPr lang="en-US" sz="1250" dirty="0"/>
          </a:p>
          <a:p>
            <a:pPr indent="0" marL="0">
              <a:buNone/>
            </a:pPr>
            <a:r>
              <a:rPr lang="en-US" sz="1250" dirty="0">
                <a:solidFill>
                  <a:srgbClr val="CFE1EC"/>
                </a:solidFill>
                <a:latin typeface="Courier New" pitchFamily="34" charset="0"/>
                <a:ea typeface="Courier New" pitchFamily="34" charset="-122"/>
                <a:cs typeface="Courier New" pitchFamily="34" charset="-120"/>
              </a:rPr>
              <a:t>    def heuristic(self, s) # -&gt; float</a:t>
            </a:r>
            <a:endParaRPr lang="en-US" sz="1250" dirty="0"/>
          </a:p>
        </p:txBody>
      </p:sp>
      <p:sp>
        <p:nvSpPr>
          <p:cNvPr id="6" name="Text 4"/>
          <p:cNvSpPr txBox="1"/>
          <p:nvPr/>
        </p:nvSpPr>
        <p:spPr>
          <a:xfrm>
            <a:off x="566928" y="3520440"/>
            <a:ext cx="5577840" cy="1188720"/>
          </a:xfrm>
          <a:prstGeom prst="rect">
            <a:avLst/>
          </a:prstGeom>
          <a:noFill/>
          <a:ln/>
        </p:spPr>
        <p:txBody>
          <a:bodyPr wrap="square" lIns="0" tIns="0" rIns="0" bIns="0" rtlCol="0" anchor="ctr"/>
          <a:lstStyle/>
          <a:p>
            <a:pPr indent="0" marL="0">
              <a:buNone/>
            </a:pPr>
            <a:r>
              <a:rPr lang="en-US" sz="1350" dirty="0">
                <a:solidFill>
                  <a:srgbClr val="32414F"/>
                </a:solidFill>
              </a:rPr>
              <a:t>Năm thuật toán chỉ dựa trên bốn thành phần này nên hoàn toàn không biết mình đang giải lưới ô vuông hay đồ thị thành phố. Muốn thêm bài toán mới (8-puzzle, Tháp Hà Nội) chỉ cần viết thêm một lớp — không sửa một dòng nào trong algorithms.py.</a:t>
            </a:r>
            <a:endParaRPr lang="en-US" sz="1350" dirty="0"/>
          </a:p>
        </p:txBody>
      </p:sp>
      <p:sp>
        <p:nvSpPr>
          <p:cNvPr id="7" name="Text 5"/>
          <p:cNvSpPr txBox="1"/>
          <p:nvPr/>
        </p:nvSpPr>
        <p:spPr>
          <a:xfrm>
            <a:off x="6492240" y="1188720"/>
            <a:ext cx="5120640" cy="365760"/>
          </a:xfrm>
          <a:prstGeom prst="rect">
            <a:avLst/>
          </a:prstGeom>
          <a:noFill/>
          <a:ln/>
        </p:spPr>
        <p:txBody>
          <a:bodyPr wrap="square" lIns="0" tIns="0" rIns="0" bIns="0" rtlCol="0" anchor="ctr"/>
          <a:lstStyle/>
          <a:p>
            <a:pPr indent="0" marL="0">
              <a:buNone/>
            </a:pPr>
            <a:r>
              <a:rPr lang="en-US" sz="1500" b="1" dirty="0">
                <a:solidFill>
                  <a:srgbClr val="16203F"/>
                </a:solidFill>
              </a:rPr>
              <a:t>Tính năng chính</a:t>
            </a:r>
            <a:endParaRPr lang="en-US" sz="1500" dirty="0"/>
          </a:p>
        </p:txBody>
      </p:sp>
      <p:sp>
        <p:nvSpPr>
          <p:cNvPr id="8" name="Text 6"/>
          <p:cNvSpPr txBox="1"/>
          <p:nvPr/>
        </p:nvSpPr>
        <p:spPr>
          <a:xfrm>
            <a:off x="6492240" y="1627632"/>
            <a:ext cx="5120640" cy="3931920"/>
          </a:xfrm>
          <a:prstGeom prst="rect">
            <a:avLst/>
          </a:prstGeom>
          <a:noFill/>
          <a:ln/>
        </p:spPr>
        <p:txBody>
          <a:bodyPr wrap="square" rtlCol="0" anchor="t"/>
          <a:lstStyle/>
          <a:p>
            <a:pPr marL="342900" indent="-342900">
              <a:spcAft>
                <a:spcPts val="700"/>
              </a:spcAft>
              <a:buSzPct val="100000"/>
              <a:buChar char="•"/>
            </a:pPr>
            <a:r>
              <a:rPr lang="en-US" sz="1350" dirty="0">
                <a:solidFill>
                  <a:srgbClr val="32414F"/>
                </a:solidFill>
              </a:rPr>
              <a:t>Hai không gian trạng thái: lưới ô vuông và đồ thị thành phố có trọng số</a:t>
            </a:r>
            <a:endParaRPr lang="en-US" sz="1350" dirty="0"/>
          </a:p>
          <a:p>
            <a:pPr marL="342900" indent="-342900">
              <a:spcAft>
                <a:spcPts val="700"/>
              </a:spcAft>
              <a:buSzPct val="100000"/>
              <a:buChar char="•"/>
            </a:pPr>
            <a:r>
              <a:rPr lang="en-US" sz="1350" dirty="0">
                <a:solidFill>
                  <a:srgbClr val="32414F"/>
                </a:solidFill>
              </a:rPr>
              <a:t>Vẽ tường, địa hình tốn chi phí, đặt điểm đầu/đích bằng chuột</a:t>
            </a:r>
            <a:endParaRPr lang="en-US" sz="1350" dirty="0"/>
          </a:p>
          <a:p>
            <a:pPr marL="342900" indent="-342900">
              <a:spcAft>
                <a:spcPts val="700"/>
              </a:spcAft>
              <a:buSzPct val="100000"/>
              <a:buChar char="•"/>
            </a:pPr>
            <a:r>
              <a:rPr lang="en-US" sz="1350" dirty="0">
                <a:solidFill>
                  <a:srgbClr val="32414F"/>
                </a:solidFill>
              </a:rPr>
              <a:t>Sinh vật cản ngẫu nhiên và sinh mê cung tự động</a:t>
            </a:r>
            <a:endParaRPr lang="en-US" sz="1350" dirty="0"/>
          </a:p>
          <a:p>
            <a:pPr marL="342900" indent="-342900">
              <a:spcAft>
                <a:spcPts val="700"/>
              </a:spcAft>
              <a:buSzPct val="100000"/>
              <a:buChar char="•"/>
            </a:pPr>
            <a:r>
              <a:rPr lang="en-US" sz="1350" dirty="0">
                <a:solidFill>
                  <a:srgbClr val="32414F"/>
                </a:solidFill>
              </a:rPr>
              <a:t>Mô phỏng từng bước mở rộng nút, tốc độ điều chỉnh được</a:t>
            </a:r>
            <a:endParaRPr lang="en-US" sz="1350" dirty="0"/>
          </a:p>
          <a:p>
            <a:pPr marL="342900" indent="-342900">
              <a:spcAft>
                <a:spcPts val="700"/>
              </a:spcAft>
              <a:buSzPct val="100000"/>
              <a:buChar char="•"/>
            </a:pPr>
            <a:r>
              <a:rPr lang="en-US" sz="1350" dirty="0">
                <a:solidFill>
                  <a:srgbClr val="32414F"/>
                </a:solidFill>
              </a:rPr>
              <a:t>So sánh cả năm thuật toán trên cùng một bản đồ</a:t>
            </a:r>
            <a:endParaRPr lang="en-US" sz="1350" dirty="0"/>
          </a:p>
          <a:p>
            <a:pPr marL="342900" indent="-342900">
              <a:spcAft>
                <a:spcPts val="700"/>
              </a:spcAft>
              <a:buSzPct val="100000"/>
              <a:buChar char="•"/>
            </a:pPr>
            <a:r>
              <a:rPr lang="en-US" sz="1350" dirty="0">
                <a:solidFill>
                  <a:srgbClr val="32414F"/>
                </a:solidFill>
              </a:rPr>
              <a:t>Năm hàm heuristic: Manhattan, Euclid, Chebyshev, Octile, Zero</a:t>
            </a:r>
            <a:endParaRPr lang="en-US" sz="1350" dirty="0"/>
          </a:p>
          <a:p>
            <a:pPr marL="342900" indent="-342900">
              <a:spcAft>
                <a:spcPts val="700"/>
              </a:spcAft>
              <a:buSzPct val="100000"/>
              <a:buChar char="•"/>
            </a:pPr>
            <a:r>
              <a:rPr lang="en-US" sz="1350" dirty="0">
                <a:solidFill>
                  <a:srgbClr val="32414F"/>
                </a:solidFill>
              </a:rPr>
              <a:t>Kiểm tra tính chấp nhận được của heuristic bằng Dijkstra ngược</a:t>
            </a:r>
            <a:endParaRPr lang="en-US" sz="1350" dirty="0"/>
          </a:p>
          <a:p>
            <a:pPr marL="342900" indent="-342900">
              <a:spcAft>
                <a:spcPts val="700"/>
              </a:spcAft>
              <a:buSzPct val="100000"/>
              <a:buChar char="•"/>
            </a:pPr>
            <a:r>
              <a:rPr lang="en-US" sz="1350" dirty="0">
                <a:solidFill>
                  <a:srgbClr val="32414F"/>
                </a:solidFill>
              </a:rPr>
              <a:t>Chế độ dòng lệnh để chạy thực nghiệm hàng loạt</a:t>
            </a:r>
            <a:endParaRPr lang="en-US" sz="1350" dirty="0"/>
          </a:p>
        </p:txBody>
      </p:sp>
      <p:sp>
        <p:nvSpPr>
          <p:cNvPr id="9" name="test-card"/>
          <p:cNvSpPr/>
          <p:nvPr/>
        </p:nvSpPr>
        <p:spPr>
          <a:xfrm>
            <a:off x="566928" y="4846320"/>
            <a:ext cx="5577840" cy="932688"/>
          </a:xfrm>
          <a:prstGeom prst="roundRect">
            <a:avLst>
              <a:gd name="adj" fmla="val 9804"/>
            </a:avLst>
          </a:prstGeom>
          <a:solidFill>
            <a:srgbClr val="EEF3F7"/>
          </a:solidFill>
          <a:ln w="12700">
            <a:solidFill>
              <a:srgbClr val="EEF3F7"/>
            </a:solidFill>
            <a:prstDash val="solid"/>
          </a:ln>
          <a:effectLst>
            <a:outerShdw sx="100000" sy="100000" kx="0" ky="0" algn="bl" rotWithShape="0" blurRad="127000" dist="25400" dir="5400000">
              <a:srgbClr val="16203F">
                <a:alpha val="12000"/>
              </a:srgbClr>
            </a:outerShdw>
          </a:effectLst>
        </p:spPr>
      </p:sp>
      <p:sp>
        <p:nvSpPr>
          <p:cNvPr id="10" name="Text 8"/>
          <p:cNvSpPr txBox="1"/>
          <p:nvPr/>
        </p:nvSpPr>
        <p:spPr>
          <a:xfrm>
            <a:off x="804672" y="4956048"/>
            <a:ext cx="1371600" cy="713232"/>
          </a:xfrm>
          <a:prstGeom prst="rect">
            <a:avLst/>
          </a:prstGeom>
          <a:noFill/>
          <a:ln/>
        </p:spPr>
        <p:txBody>
          <a:bodyPr wrap="square" lIns="0" tIns="0" rIns="0" bIns="0" rtlCol="0" anchor="ctr"/>
          <a:lstStyle/>
          <a:p>
            <a:pPr algn="ctr" indent="0" marL="0">
              <a:buNone/>
            </a:pPr>
            <a:r>
              <a:rPr lang="en-US" sz="2800" b="1" dirty="0">
                <a:solidFill>
                  <a:srgbClr val="065A82"/>
                </a:solidFill>
              </a:rPr>
              <a:t>15 / 15</a:t>
            </a:r>
            <a:endParaRPr lang="en-US" sz="2800" dirty="0"/>
          </a:p>
        </p:txBody>
      </p:sp>
      <p:sp>
        <p:nvSpPr>
          <p:cNvPr id="11" name="Text 9"/>
          <p:cNvSpPr txBox="1"/>
          <p:nvPr/>
        </p:nvSpPr>
        <p:spPr>
          <a:xfrm>
            <a:off x="2212848" y="4992624"/>
            <a:ext cx="3749040" cy="658368"/>
          </a:xfrm>
          <a:prstGeom prst="rect">
            <a:avLst/>
          </a:prstGeom>
          <a:noFill/>
          <a:ln/>
        </p:spPr>
        <p:txBody>
          <a:bodyPr wrap="square" lIns="0" tIns="0" rIns="0" bIns="0" rtlCol="0" anchor="ctr"/>
          <a:lstStyle/>
          <a:p>
            <a:pPr indent="0" marL="0">
              <a:buNone/>
            </a:pPr>
            <a:r>
              <a:rPr lang="en-US" sz="1250" dirty="0">
                <a:solidFill>
                  <a:srgbClr val="32414F"/>
                </a:solidFill>
              </a:rPr>
              <a:t>test case tự động đều đạt</a:t>
            </a:r>
            <a:endParaRPr lang="en-US" sz="1250" dirty="0"/>
          </a:p>
          <a:p>
            <a:pPr indent="0" marL="0">
              <a:buNone/>
            </a:pPr>
            <a:r>
              <a:rPr lang="en-US" sz="1250" dirty="0">
                <a:solidFill>
                  <a:srgbClr val="32414F"/>
                </a:solidFill>
              </a:rPr>
              <a:t>(unittest, chạy bằng một lệnh)</a:t>
            </a:r>
            <a:endParaRPr lang="en-US" sz="1250" dirty="0"/>
          </a:p>
        </p:txBody>
      </p:sp>
      <p:sp>
        <p:nvSpPr>
          <p:cNvPr id="12"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005840" y="2606040"/>
            <a:ext cx="10149840" cy="1097280"/>
          </a:xfrm>
          <a:prstGeom prst="rect">
            <a:avLst/>
          </a:prstGeom>
          <a:noFill/>
          <a:ln/>
        </p:spPr>
        <p:txBody>
          <a:bodyPr wrap="square" rtlCol="0" anchor="ctr"/>
          <a:lstStyle/>
          <a:p>
            <a:pPr algn="l" indent="0" marL="0">
              <a:buNone/>
            </a:pPr>
            <a:r>
              <a:rPr lang="en-US" sz="3600" b="1" dirty="0">
                <a:solidFill>
                  <a:srgbClr val="FFFFFF"/>
                </a:solidFill>
              </a:rPr>
              <a:t>04  ·  Kết quả thực nghiệm</a:t>
            </a:r>
            <a:endParaRPr lang="en-US" sz="3600" dirty="0"/>
          </a:p>
        </p:txBody>
      </p:sp>
      <p:sp>
        <p:nvSpPr>
          <p:cNvPr id="3" name="Text 0"/>
          <p:cNvSpPr/>
          <p:nvPr>
            <p:ph idx="101" type="body" hasCustomPrompt="1"/>
          </p:nvPr>
        </p:nvSpPr>
        <p:spPr>
          <a:xfrm>
            <a:off x="1005840" y="3749040"/>
            <a:ext cx="10149840" cy="914400"/>
          </a:xfrm>
          <a:prstGeom prst="rect">
            <a:avLst/>
          </a:prstGeom>
          <a:noFill/>
          <a:ln/>
        </p:spPr>
        <p:txBody>
          <a:bodyPr wrap="square" rtlCol="0" anchor="t"/>
          <a:lstStyle/>
          <a:p>
            <a:pPr algn="l" indent="0" marL="0">
              <a:buNone/>
            </a:pPr>
            <a:r>
              <a:rPr lang="en-US" sz="1600" dirty="0">
                <a:solidFill>
                  <a:srgbClr val="CFE1EC"/>
                </a:solidFill>
              </a:rPr>
              <a:t>Bốn thực nghiệm, hơn 400 lượt chạy — mọi nhận định lý thuyết đều có số liệu kèm theo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Thực nghiệm 1 — Đối chiếu với lời giải làm bằng tay</a:t>
            </a:r>
            <a:endParaRPr lang="en-US" sz="3200" dirty="0"/>
          </a:p>
        </p:txBody>
      </p:sp>
      <p:pic>
        <p:nvPicPr>
          <p:cNvPr id="3" name="Image 0" descr="/home/claude/pathfinding-visualizer/docs/figures/fig2_graph.png">    </p:cNvPr>
          <p:cNvPicPr>
            <a:picLocks noChangeAspect="1"/>
          </p:cNvPicPr>
          <p:nvPr/>
        </p:nvPicPr>
        <p:blipFill>
          <a:blip r:embed="rId1"/>
          <a:stretch>
            <a:fillRect/>
          </a:stretch>
        </p:blipFill>
        <p:spPr>
          <a:xfrm>
            <a:off x="566928" y="1234440"/>
            <a:ext cx="5577840" cy="3474720"/>
          </a:xfrm>
          <a:prstGeom prst="rect">
            <a:avLst/>
          </a:prstGeom>
        </p:spPr>
      </p:pic>
      <p:sp>
        <p:nvSpPr>
          <p:cNvPr id="4" name="Text 1"/>
          <p:cNvSpPr txBox="1"/>
          <p:nvPr/>
        </p:nvSpPr>
        <p:spPr>
          <a:xfrm>
            <a:off x="566928" y="4773168"/>
            <a:ext cx="5577840" cy="457200"/>
          </a:xfrm>
          <a:prstGeom prst="rect">
            <a:avLst/>
          </a:prstGeom>
          <a:noFill/>
          <a:ln/>
        </p:spPr>
        <p:txBody>
          <a:bodyPr wrap="square" lIns="0" tIns="0" rIns="0" bIns="0" rtlCol="0" anchor="ctr"/>
          <a:lstStyle/>
          <a:p>
            <a:pPr indent="0" marL="0">
              <a:buNone/>
            </a:pPr>
            <a:r>
              <a:rPr lang="en-US" sz="1200" i="1" dirty="0">
                <a:solidFill>
                  <a:srgbClr val="6B7C8C"/>
                </a:solidFill>
              </a:rPr>
              <a:t>Đồ thị bài tập trên lớp: 11 đỉnh, 14 cạnh, có sẵn bảng heuristic. Tìm đường S → G.</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2240" y="1298448"/>
          <a:ext cx="5120640" cy="914400"/>
        </p:xfrm>
        <a:graphic>
          <a:graphicData uri="http://schemas.openxmlformats.org/drawingml/2006/table">
            <a:tbl>
              <a:tblPr/>
              <a:tblGrid>
                <a:gridCol w="1234440"/>
                <a:gridCol w="2011680"/>
                <a:gridCol w="914400"/>
                <a:gridCol w="960120"/>
              </a:tblGrid>
              <a:tr h="384048">
                <a:tc>
                  <a:txBody>
                    <a:bodyPr/>
                    <a:lstStyle/>
                    <a:p>
                      <a:pPr indent="0" marL="0">
                        <a:buNone/>
                      </a:pPr>
                      <a:r>
                        <a:rPr lang="en-US" sz="1250" b="1" dirty="0">
                          <a:solidFill>
                            <a:srgbClr val="FFFFFF"/>
                          </a:solidFill>
                        </a:rPr>
                        <a:t>Thuật toán</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rPr>
                        <a:t>Đường đi</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065A82"/>
                    </a:solidFill>
                  </a:tcPr>
                </a:tc>
                <a:tc>
                  <a:txBody>
                    <a:bodyPr/>
                    <a:lstStyle/>
                    <a:p>
                      <a:pPr algn="ctr" indent="0" marL="0">
                        <a:buNone/>
                      </a:pPr>
                      <a:r>
                        <a:rPr lang="en-US" sz="1250" b="1" dirty="0">
                          <a:solidFill>
                            <a:srgbClr val="FFFFFF"/>
                          </a:solidFill>
                        </a:rPr>
                        <a:t>Chi phí</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065A82"/>
                    </a:solidFill>
                  </a:tcPr>
                </a:tc>
                <a:tc>
                  <a:txBody>
                    <a:bodyPr/>
                    <a:lstStyle/>
                    <a:p>
                      <a:pPr algn="ctr" indent="0" marL="0">
                        <a:buNone/>
                      </a:pPr>
                      <a:r>
                        <a:rPr lang="en-US" sz="1250" b="1" dirty="0">
                          <a:solidFill>
                            <a:srgbClr val="FFFFFF"/>
                          </a:solidFill>
                        </a:rPr>
                        <a:t>Mở rộng</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065A82"/>
                    </a:solidFill>
                  </a:tcPr>
                </a:tc>
              </a:tr>
              <a:tr h="384048">
                <a:tc>
                  <a:txBody>
                    <a:bodyPr/>
                    <a:lstStyle/>
                    <a:p>
                      <a:pPr indent="0" marL="0">
                        <a:buNone/>
                      </a:pPr>
                      <a:r>
                        <a:rPr lang="en-US" sz="1250" dirty="0">
                          <a:solidFill>
                            <a:srgbClr val="32414F"/>
                          </a:solidFill>
                        </a:rPr>
                        <a:t>BFS</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indent="0" marL="0">
                        <a:buNone/>
                      </a:pPr>
                      <a:r>
                        <a:rPr lang="en-US" sz="1250" dirty="0">
                          <a:solidFill>
                            <a:srgbClr val="32414F"/>
                          </a:solidFill>
                        </a:rPr>
                        <a:t>S → E → G</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2414F"/>
                          </a:solidFill>
                        </a:rPr>
                        <a:t>154</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2414F"/>
                          </a:solidFill>
                        </a:rPr>
                        <a:t>8</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32414F"/>
                          </a:solidFill>
                        </a:rPr>
                        <a:t>DFS</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indent="0" marL="0">
                        <a:buNone/>
                      </a:pPr>
                      <a:r>
                        <a:rPr lang="en-US" sz="1250" dirty="0">
                          <a:solidFill>
                            <a:srgbClr val="32414F"/>
                          </a:solidFill>
                        </a:rPr>
                        <a:t>S → A → D → E → G</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2414F"/>
                          </a:solidFill>
                        </a:rPr>
                        <a:t>227</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2414F"/>
                          </a:solidFill>
                        </a:rPr>
                        <a:t>5</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32414F"/>
                          </a:solidFill>
                        </a:rPr>
                        <a:t>UCS</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indent="0" marL="0">
                        <a:buNone/>
                      </a:pPr>
                      <a:r>
                        <a:rPr lang="en-US" sz="1250" b="1" dirty="0">
                          <a:solidFill>
                            <a:srgbClr val="32414F"/>
                          </a:solidFill>
                        </a:rPr>
                        <a:t>S → B → F → G</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65A82"/>
                          </a:solidFill>
                        </a:rPr>
                        <a:t>137</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2414F"/>
                          </a:solidFill>
                        </a:rPr>
                        <a:t>8</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32414F"/>
                          </a:solidFill>
                        </a:rPr>
                        <a:t>Greedy</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indent="0" marL="0">
                        <a:buNone/>
                      </a:pPr>
                      <a:r>
                        <a:rPr lang="en-US" sz="1250" dirty="0">
                          <a:solidFill>
                            <a:srgbClr val="32414F"/>
                          </a:solidFill>
                        </a:rPr>
                        <a:t>S → E → G</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2414F"/>
                          </a:solidFill>
                        </a:rPr>
                        <a:t>154</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2414F"/>
                          </a:solidFill>
                        </a:rPr>
                        <a:t>3</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32414F"/>
                          </a:solidFill>
                        </a:rPr>
                        <a:t>A*</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indent="0" marL="0">
                        <a:buNone/>
                      </a:pPr>
                      <a:r>
                        <a:rPr lang="en-US" sz="1250" b="1" dirty="0">
                          <a:solidFill>
                            <a:srgbClr val="32414F"/>
                          </a:solidFill>
                        </a:rPr>
                        <a:t>S → B → F → G</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65A82"/>
                          </a:solidFill>
                        </a:rPr>
                        <a:t>137</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65A82"/>
                          </a:solidFill>
                        </a:rPr>
                        <a:t>4</a:t>
                      </a:r>
                      <a:endParaRPr lang="en-US" sz="1250" dirty="0"/>
                    </a:p>
                  </a:txBody>
                  <a:tcPr marL="91440" marR="91440" marT="45720" marB="45720" anchor="ctr">
                    <a:lnL w="6350" cap="flat" cmpd="sng" algn="ctr">
                      <a:solidFill>
                        <a:srgbClr val="C9D4E4"/>
                      </a:solidFill>
                      <a:prstDash val="solid"/>
                      <a:round/>
                      <a:headEnd type="none" w="med" len="med"/>
                      <a:tailEnd type="none" w="med" len="med"/>
                    </a:lnL>
                    <a:lnR w="6350" cap="flat" cmpd="sng" algn="ctr">
                      <a:solidFill>
                        <a:srgbClr val="C9D4E4"/>
                      </a:solidFill>
                      <a:prstDash val="solid"/>
                      <a:round/>
                      <a:headEnd type="none" w="med" len="med"/>
                      <a:tailEnd type="none" w="med" len="med"/>
                    </a:lnR>
                    <a:lnT w="6350" cap="flat" cmpd="sng" algn="ctr">
                      <a:solidFill>
                        <a:srgbClr val="C9D4E4"/>
                      </a:solidFill>
                      <a:prstDash val="solid"/>
                      <a:round/>
                      <a:headEnd type="none" w="med" len="med"/>
                      <a:tailEnd type="none" w="med" len="med"/>
                    </a:lnT>
                    <a:lnB w="6350" cap="flat" cmpd="sng" algn="ctr">
                      <a:solidFill>
                        <a:srgbClr val="C9D4E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492240" y="3931920"/>
            <a:ext cx="5120640" cy="2103120"/>
          </a:xfrm>
          <a:prstGeom prst="rect">
            <a:avLst/>
          </a:prstGeom>
          <a:noFill/>
          <a:ln/>
        </p:spPr>
        <p:txBody>
          <a:bodyPr wrap="square" rtlCol="0" anchor="t"/>
          <a:lstStyle/>
          <a:p>
            <a:pPr indent="0" marL="0">
              <a:spcAft>
                <a:spcPts val="800"/>
              </a:spcAft>
              <a:buNone/>
            </a:pPr>
            <a:r>
              <a:rPr lang="en-US" sz="1250" b="1" dirty="0">
                <a:solidFill>
                  <a:srgbClr val="16203F"/>
                </a:solidFill>
              </a:rPr>
              <a:t>Kết quả trùng khớp hoàn toàn với lời giải giải tay.</a:t>
            </a:r>
            <a:endParaRPr lang="en-US" sz="1250" dirty="0"/>
          </a:p>
          <a:p>
            <a:pPr marL="342900" indent="-342900">
              <a:spcAft>
                <a:spcPts val="600"/>
              </a:spcAft>
              <a:buSzPct val="100000"/>
              <a:buChar char="•"/>
            </a:pPr>
            <a:r>
              <a:rPr lang="en-US" sz="1250" dirty="0">
                <a:solidFill>
                  <a:srgbClr val="32414F"/>
                </a:solidFill>
              </a:rPr>
              <a:t>A* chỉ mở rộng 4 nút thay vì 8 của UCS mà vẫn cho cùng chi phí tối ưu 137.</a:t>
            </a:r>
            <a:endParaRPr lang="en-US" sz="1250" dirty="0"/>
          </a:p>
          <a:p>
            <a:pPr marL="342900" indent="-342900">
              <a:spcAft>
                <a:spcPts val="600"/>
              </a:spcAft>
              <a:buSzPct val="100000"/>
              <a:buChar char="•"/>
            </a:pPr>
            <a:r>
              <a:rPr lang="en-US" sz="1250" dirty="0">
                <a:solidFill>
                  <a:srgbClr val="32414F"/>
                </a:solidFill>
              </a:rPr>
              <a:t>Greedy nhanh nhất (3 nút) nhưng đắt hơn 12,4% — vì chọn E do h(E) = 72 nhỏ nhất, mà không biết cạnh E–G về sau rất đắt.</a:t>
            </a:r>
            <a:endParaRPr lang="en-US" sz="1250" dirty="0"/>
          </a:p>
          <a:p>
            <a:pPr marL="342900" indent="-342900">
              <a:buSzPct val="100000"/>
              <a:buChar char="•"/>
            </a:pPr>
            <a:r>
              <a:rPr lang="en-US" sz="1250" dirty="0">
                <a:solidFill>
                  <a:srgbClr val="32414F"/>
                </a:solidFill>
              </a:rPr>
              <a:t>BFS cho đường ít bước nhất nhưng không rẻ nhất.</a:t>
            </a:r>
            <a:endParaRPr lang="en-US" sz="1250" dirty="0"/>
          </a:p>
        </p:txBody>
      </p:sp>
      <p:sp>
        <p:nvSpPr>
          <p:cNvPr id="7"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Thực nghiệm 2 — Vùng không gian trạng thái phải duyệt</a:t>
            </a:r>
            <a:endParaRPr lang="en-US" sz="3200" dirty="0"/>
          </a:p>
        </p:txBody>
      </p:sp>
      <p:pic>
        <p:nvPicPr>
          <p:cNvPr id="3" name="Image 0" descr="/home/claude/pathfinding-visualizer/docs/figures/fig1_grid_compare.png">    </p:cNvPr>
          <p:cNvPicPr>
            <a:picLocks noChangeAspect="1"/>
          </p:cNvPicPr>
          <p:nvPr/>
        </p:nvPicPr>
        <p:blipFill>
          <a:blip r:embed="rId1"/>
          <a:stretch>
            <a:fillRect/>
          </a:stretch>
        </p:blipFill>
        <p:spPr>
          <a:xfrm>
            <a:off x="640080" y="1188720"/>
            <a:ext cx="10917936" cy="4261104"/>
          </a:xfrm>
          <a:prstGeom prst="rect">
            <a:avLst/>
          </a:prstGeom>
        </p:spPr>
      </p:pic>
      <p:sp>
        <p:nvSpPr>
          <p:cNvPr id="4" name="Text 1"/>
          <p:cNvSpPr txBox="1"/>
          <p:nvPr/>
        </p:nvSpPr>
        <p:spPr>
          <a:xfrm>
            <a:off x="566928" y="5577840"/>
            <a:ext cx="11064240" cy="457200"/>
          </a:xfrm>
          <a:prstGeom prst="rect">
            <a:avLst/>
          </a:prstGeom>
          <a:noFill/>
          <a:ln/>
        </p:spPr>
        <p:txBody>
          <a:bodyPr wrap="square" lIns="0" tIns="0" rIns="0" bIns="0" rtlCol="0" anchor="ctr"/>
          <a:lstStyle/>
          <a:p>
            <a:pPr algn="ctr" indent="0" marL="0">
              <a:buNone/>
            </a:pPr>
            <a:r>
              <a:rPr lang="en-US" sz="1300" dirty="0">
                <a:solidFill>
                  <a:srgbClr val="32414F"/>
                </a:solidFill>
              </a:rPr>
              <a:t>UCS (668 ô) lan toả đều ra mọi hướng  ·  </a:t>
            </a:r>
            <a:pPr algn="ctr" indent="0" marL="0">
              <a:buNone/>
            </a:pPr>
            <a:r>
              <a:rPr lang="en-US" sz="1300" b="1" dirty="0">
                <a:solidFill>
                  <a:srgbClr val="065A82"/>
                </a:solidFill>
              </a:rPr>
              <a:t>A* (178 ô) tạo hành lang hẹp hướng thẳng về đích, chi phí vẫn đúng bằng UCS  ·  </a:t>
            </a:r>
            <a:pPr algn="ctr" indent="0" marL="0">
              <a:buNone/>
            </a:pPr>
            <a:r>
              <a:rPr lang="en-US" sz="1300" dirty="0">
                <a:solidFill>
                  <a:srgbClr val="C94F4F"/>
                </a:solidFill>
              </a:rPr>
              <a:t>Greedy (64 ô) duyệt ít nhất nhưng đường đi đắt hơn 30%</a:t>
            </a:r>
            <a:endParaRPr lang="en-US" sz="1300" dirty="0"/>
          </a:p>
        </p:txBody>
      </p:sp>
      <p:sp>
        <p:nvSpPr>
          <p:cNvPr id="6"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Thực nghiệm 3 — Thống kê trên 50 bản đồ ngẫu nhiên</a:t>
            </a:r>
            <a:endParaRPr lang="en-US" sz="3200" dirty="0"/>
          </a:p>
        </p:txBody>
      </p:sp>
      <p:sp>
        <p:nvSpPr>
          <p:cNvPr id="3" name="Text 1"/>
          <p:cNvSpPr txBox="1"/>
          <p:nvPr/>
        </p:nvSpPr>
        <p:spPr>
          <a:xfrm>
            <a:off x="566928" y="1152144"/>
            <a:ext cx="11064240" cy="365760"/>
          </a:xfrm>
          <a:prstGeom prst="rect">
            <a:avLst/>
          </a:prstGeom>
          <a:noFill/>
          <a:ln/>
        </p:spPr>
        <p:txBody>
          <a:bodyPr wrap="square" lIns="0" tIns="0" rIns="0" bIns="0" rtlCol="0" anchor="ctr"/>
          <a:lstStyle/>
          <a:p>
            <a:pPr indent="0" marL="0">
              <a:buNone/>
            </a:pPr>
            <a:r>
              <a:rPr lang="en-US" sz="1350" dirty="0">
                <a:solidFill>
                  <a:srgbClr val="6B7C8C"/>
                </a:solidFill>
              </a:rPr>
              <a:t>Lưới 40×40, mật độ vật cản 25%, 50 bản đồ sinh ngẫu nhiên — giá trị là trung bình.</a:t>
            </a:r>
            <a:endParaRPr lang="en-US" sz="1350" dirty="0"/>
          </a:p>
        </p:txBody>
      </p:sp>
      <p:graphicFrame>
        <p:nvGraphicFramePr>
          <p:cNvPr id="4" name="Chart 0" descr=""/>
          <p:cNvGraphicFramePr/>
          <p:nvPr/>
        </p:nvGraphicFramePr>
        <p:xfrm>
          <a:off x="566928" y="1627632"/>
          <a:ext cx="54406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627632"/>
          <a:ext cx="5440680" cy="3566160"/>
        </p:xfrm>
        <a:graphic xmlns:a="http://schemas.openxmlformats.org/drawingml/2006/main">
          <a:graphicData uri="http://schemas.openxmlformats.org/drawingml/2006/chart">
            <c:chart xmlns:c="http://schemas.openxmlformats.org/drawingml/2006/chart" r:id="rId2"/>
          </a:graphicData>
        </a:graphic>
      </p:graphicFrame>
      <p:sp>
        <p:nvSpPr>
          <p:cNvPr id="6" name="tn3-note"/>
          <p:cNvSpPr/>
          <p:nvPr/>
        </p:nvSpPr>
        <p:spPr>
          <a:xfrm>
            <a:off x="566928" y="5321808"/>
            <a:ext cx="11045952" cy="713232"/>
          </a:xfrm>
          <a:prstGeom prst="roundRect">
            <a:avLst>
              <a:gd name="adj" fmla="val 12821"/>
            </a:avLst>
          </a:prstGeom>
          <a:solidFill>
            <a:srgbClr val="16203F"/>
          </a:solidFill>
          <a:ln w="12700">
            <a:solidFill>
              <a:srgbClr val="16203F"/>
            </a:solidFill>
            <a:prstDash val="solid"/>
          </a:ln>
          <a:effectLst>
            <a:outerShdw sx="100000" sy="100000" kx="0" ky="0" algn="bl" rotWithShape="0" blurRad="127000" dist="25400" dir="5400000">
              <a:srgbClr val="16203F">
                <a:alpha val="12000"/>
              </a:srgbClr>
            </a:outerShdw>
          </a:effectLst>
        </p:spPr>
      </p:sp>
      <p:sp>
        <p:nvSpPr>
          <p:cNvPr id="7" name="Text 3"/>
          <p:cNvSpPr txBox="1"/>
          <p:nvPr/>
        </p:nvSpPr>
        <p:spPr>
          <a:xfrm>
            <a:off x="566928" y="5431536"/>
            <a:ext cx="11045952" cy="493776"/>
          </a:xfrm>
          <a:prstGeom prst="rect">
            <a:avLst/>
          </a:prstGeom>
          <a:noFill/>
          <a:ln/>
        </p:spPr>
        <p:txBody>
          <a:bodyPr wrap="square" lIns="0" tIns="0" rIns="0" bIns="0" rtlCol="0" anchor="ctr"/>
          <a:lstStyle/>
          <a:p>
            <a:pPr algn="ctr" indent="0" marL="0">
              <a:buNone/>
            </a:pPr>
            <a:r>
              <a:rPr lang="en-US" sz="1400" b="1" dirty="0">
                <a:solidFill>
                  <a:srgbClr val="E8A33D"/>
                </a:solidFill>
              </a:rPr>
              <a:t>A* và UCS cho chi phí giống hệt nhau đến từng chữ số thập phân (82,23)</a:t>
            </a:r>
            <a:pPr algn="ctr" indent="0" marL="0">
              <a:buNone/>
            </a:pPr>
            <a:r>
              <a:rPr lang="en-US" sz="1400" dirty="0">
                <a:solidFill>
                  <a:srgbClr val="CFE1EC"/>
                </a:solidFill>
              </a:rPr>
              <a:t>  —  nhưng A* chỉ mở rộng 42,1% số nút và chạy nhanh hơn gấp đôi.</a:t>
            </a:r>
            <a:endParaRPr lang="en-US" sz="1400" dirty="0"/>
          </a:p>
        </p:txBody>
      </p:sp>
      <p:sp>
        <p:nvSpPr>
          <p:cNvPr id="8"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Thực nghiệm 4 — Ưu thế của A* có luôn giữ vững không?</a:t>
            </a:r>
            <a:endParaRPr lang="en-US" sz="3200" dirty="0"/>
          </a:p>
        </p:txBody>
      </p:sp>
      <p:pic>
        <p:nvPicPr>
          <p:cNvPr id="3" name="Image 0" descr="/home/claude/pathfinding-visualizer/docs/figures/fig4_density.png">    </p:cNvPr>
          <p:cNvPicPr>
            <a:picLocks noChangeAspect="1"/>
          </p:cNvPicPr>
          <p:nvPr/>
        </p:nvPicPr>
        <p:blipFill>
          <a:blip r:embed="rId1"/>
          <a:stretch>
            <a:fillRect/>
          </a:stretch>
        </p:blipFill>
        <p:spPr>
          <a:xfrm>
            <a:off x="1417320" y="1188720"/>
            <a:ext cx="7315200" cy="3410712"/>
          </a:xfrm>
          <a:prstGeom prst="rect">
            <a:avLst/>
          </a:prstGeom>
        </p:spPr>
      </p:pic>
      <p:sp>
        <p:nvSpPr>
          <p:cNvPr id="4" name="Text 1"/>
          <p:cNvSpPr txBox="1"/>
          <p:nvPr/>
        </p:nvSpPr>
        <p:spPr>
          <a:xfrm>
            <a:off x="8915400" y="1280160"/>
            <a:ext cx="2743200" cy="3383280"/>
          </a:xfrm>
          <a:prstGeom prst="rect">
            <a:avLst/>
          </a:prstGeom>
          <a:noFill/>
          <a:ln/>
        </p:spPr>
        <p:txBody>
          <a:bodyPr wrap="square" rtlCol="0" anchor="t"/>
          <a:lstStyle/>
          <a:p>
            <a:pPr indent="0" marL="0">
              <a:spcAft>
                <a:spcPts val="1000"/>
              </a:spcAft>
              <a:buNone/>
            </a:pPr>
            <a:r>
              <a:rPr lang="en-US" sz="1250" b="1" dirty="0">
                <a:solidFill>
                  <a:srgbClr val="16203F"/>
                </a:solidFill>
              </a:rPr>
              <a:t>Ba quan sát</a:t>
            </a:r>
            <a:endParaRPr lang="en-US" sz="1250" dirty="0"/>
          </a:p>
          <a:p>
            <a:pPr marL="342900" indent="-342900">
              <a:spcAft>
                <a:spcPts val="800"/>
              </a:spcAft>
              <a:buSzPct val="100000"/>
              <a:buChar char="•"/>
            </a:pPr>
            <a:r>
              <a:rPr lang="en-US" sz="1250" dirty="0">
                <a:solidFill>
                  <a:srgbClr val="32414F"/>
                </a:solidFill>
              </a:rPr>
              <a:t>BFS và UCS gần như trùng khít — cả hai đều phải duyệt toàn bộ vùng khả thi.</a:t>
            </a:r>
            <a:endParaRPr lang="en-US" sz="1250" dirty="0"/>
          </a:p>
          <a:p>
            <a:pPr marL="342900" indent="-342900">
              <a:spcAft>
                <a:spcPts val="800"/>
              </a:spcAft>
              <a:buSzPct val="100000"/>
              <a:buChar char="•"/>
            </a:pPr>
            <a:r>
              <a:rPr lang="en-US" sz="1250" dirty="0">
                <a:solidFill>
                  <a:srgbClr val="32414F"/>
                </a:solidFill>
              </a:rPr>
              <a:t>Khoảng cách A* — UCS lớn nhất ở bản đồ thoáng và thu hẹp dần khi vật cản dày: vật cản càng nhiều thì heuristic đường chim bay càng sai lệch.</a:t>
            </a:r>
            <a:endParaRPr lang="en-US" sz="1250" dirty="0"/>
          </a:p>
          <a:p>
            <a:pPr marL="342900" indent="-342900">
              <a:buSzPct val="100000"/>
              <a:buChar char="•"/>
            </a:pPr>
            <a:r>
              <a:rPr lang="en-US" sz="1250" dirty="0">
                <a:solidFill>
                  <a:srgbClr val="32414F"/>
                </a:solidFill>
              </a:rPr>
              <a:t>DFS và Greedy lại tăng số nút theo mật độ vì thường lao vào ngõ cụt rồi quay lui.</a:t>
            </a:r>
            <a:endParaRPr lang="en-US" sz="1250" dirty="0"/>
          </a:p>
        </p:txBody>
      </p:sp>
      <p:sp>
        <p:nvSpPr>
          <p:cNvPr id="5" name="Text 2"/>
          <p:cNvSpPr txBox="1"/>
          <p:nvPr/>
        </p:nvSpPr>
        <p:spPr>
          <a:xfrm>
            <a:off x="566928" y="4846320"/>
            <a:ext cx="11064240" cy="731520"/>
          </a:xfrm>
          <a:prstGeom prst="rect">
            <a:avLst/>
          </a:prstGeom>
          <a:noFill/>
          <a:ln/>
        </p:spPr>
        <p:txBody>
          <a:bodyPr wrap="square" lIns="0" tIns="0" rIns="0" bIns="0" rtlCol="0" anchor="ctr"/>
          <a:lstStyle/>
          <a:p>
            <a:pPr indent="0" marL="0">
              <a:buNone/>
            </a:pPr>
            <a:r>
              <a:rPr lang="en-US" sz="1400" dirty="0">
                <a:solidFill>
                  <a:srgbClr val="32414F"/>
                </a:solidFill>
              </a:rPr>
              <a:t>Kết luận: hiệu quả của A* không phải hằng số — nó phụ thuộc vào chất lượng của heuristic trong từng bài toán cụ thể. Heuristic càng sát chi phí thực tế, A* càng gần đường đi thẳng tới đích.</a:t>
            </a:r>
            <a:endParaRPr lang="en-US" sz="1400" dirty="0"/>
          </a:p>
        </p:txBody>
      </p:sp>
      <p:sp>
        <p:nvSpPr>
          <p:cNvPr id="6"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713232"/>
          </a:xfrm>
          <a:prstGeom prst="rect">
            <a:avLst/>
          </a:prstGeom>
          <a:noFill/>
          <a:ln/>
        </p:spPr>
        <p:txBody>
          <a:bodyPr wrap="square" rtlCol="0" anchor="ctr"/>
          <a:lstStyle/>
          <a:p>
            <a:pPr algn="l" indent="0" marL="0">
              <a:buNone/>
            </a:pPr>
            <a:r>
              <a:rPr lang="en-US" sz="3200" b="1" dirty="0">
                <a:solidFill>
                  <a:srgbClr val="16203F"/>
                </a:solidFill>
              </a:rPr>
              <a:t>Ba bài học rút ra</a:t>
            </a:r>
            <a:endParaRPr lang="en-US" sz="3200" dirty="0"/>
          </a:p>
        </p:txBody>
      </p:sp>
      <p:sp>
        <p:nvSpPr>
          <p:cNvPr id="3" name="lesson-0"/>
          <p:cNvSpPr/>
          <p:nvPr/>
        </p:nvSpPr>
        <p:spPr>
          <a:xfrm>
            <a:off x="566928" y="1325880"/>
            <a:ext cx="11045952"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4" name="lesson-badge-0"/>
          <p:cNvSpPr/>
          <p:nvPr/>
        </p:nvSpPr>
        <p:spPr>
          <a:xfrm>
            <a:off x="868680" y="1764792"/>
            <a:ext cx="512064" cy="512064"/>
          </a:xfrm>
          <a:prstGeom prst="ellipse">
            <a:avLst/>
          </a:prstGeom>
          <a:solidFill>
            <a:srgbClr val="065A82"/>
          </a:solidFill>
          <a:ln w="12700">
            <a:solidFill>
              <a:srgbClr val="065A82"/>
            </a:solidFill>
            <a:prstDash val="solid"/>
          </a:ln>
        </p:spPr>
      </p:sp>
      <p:sp>
        <p:nvSpPr>
          <p:cNvPr id="5" name="Text 3"/>
          <p:cNvSpPr txBox="1"/>
          <p:nvPr/>
        </p:nvSpPr>
        <p:spPr>
          <a:xfrm>
            <a:off x="868680" y="1764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rPr>
              <a:t>01</a:t>
            </a:r>
            <a:endParaRPr lang="en-US" sz="1500" dirty="0"/>
          </a:p>
        </p:txBody>
      </p:sp>
      <p:sp>
        <p:nvSpPr>
          <p:cNvPr id="6" name="Text 4"/>
          <p:cNvSpPr txBox="1"/>
          <p:nvPr/>
        </p:nvSpPr>
        <p:spPr>
          <a:xfrm>
            <a:off x="1627632" y="1554480"/>
            <a:ext cx="9509760" cy="411480"/>
          </a:xfrm>
          <a:prstGeom prst="rect">
            <a:avLst/>
          </a:prstGeom>
          <a:noFill/>
          <a:ln/>
        </p:spPr>
        <p:txBody>
          <a:bodyPr wrap="square" lIns="0" tIns="0" rIns="0" bIns="0" rtlCol="0" anchor="ctr"/>
          <a:lstStyle/>
          <a:p>
            <a:pPr indent="0" marL="0">
              <a:buNone/>
            </a:pPr>
            <a:r>
              <a:rPr lang="en-US" sz="1900" b="1" dirty="0">
                <a:solidFill>
                  <a:srgbClr val="16203F"/>
                </a:solidFill>
              </a:rPr>
              <a:t>Frontier quyết định tất cả</a:t>
            </a:r>
            <a:endParaRPr lang="en-US" sz="1900" dirty="0"/>
          </a:p>
        </p:txBody>
      </p:sp>
      <p:sp>
        <p:nvSpPr>
          <p:cNvPr id="7" name="Text 5"/>
          <p:cNvSpPr txBox="1"/>
          <p:nvPr/>
        </p:nvSpPr>
        <p:spPr>
          <a:xfrm>
            <a:off x="1627632" y="1984248"/>
            <a:ext cx="9509760" cy="548640"/>
          </a:xfrm>
          <a:prstGeom prst="rect">
            <a:avLst/>
          </a:prstGeom>
          <a:noFill/>
          <a:ln/>
        </p:spPr>
        <p:txBody>
          <a:bodyPr wrap="square" lIns="0" tIns="0" rIns="0" bIns="0" rtlCol="0" anchor="ctr"/>
          <a:lstStyle/>
          <a:p>
            <a:pPr indent="0" marL="0">
              <a:buNone/>
            </a:pPr>
            <a:r>
              <a:rPr lang="en-US" sz="1350" dirty="0">
                <a:solidFill>
                  <a:srgbClr val="32414F"/>
                </a:solidFill>
              </a:rPr>
              <a:t>Năm thuật toán có mã nguồn gần như giống hệt nhau, chỉ khác khoá sắp xếp frontier — nhưng cho ra năm hành vi hoàn toàn khác biệt.</a:t>
            </a:r>
            <a:endParaRPr lang="en-US" sz="1350" dirty="0"/>
          </a:p>
        </p:txBody>
      </p:sp>
      <p:sp>
        <p:nvSpPr>
          <p:cNvPr id="8" name="lesson-1"/>
          <p:cNvSpPr/>
          <p:nvPr/>
        </p:nvSpPr>
        <p:spPr>
          <a:xfrm>
            <a:off x="566928" y="2898648"/>
            <a:ext cx="11045952" cy="1371600"/>
          </a:xfrm>
          <a:prstGeom prst="roundRect">
            <a:avLst>
              <a:gd name="adj" fmla="val 6667"/>
            </a:avLst>
          </a:prstGeom>
          <a:solidFill>
            <a:srgbClr val="EEF3F7"/>
          </a:solidFill>
          <a:ln w="12700">
            <a:solidFill>
              <a:srgbClr val="EEF3F7"/>
            </a:solidFill>
            <a:prstDash val="solid"/>
          </a:ln>
          <a:effectLst>
            <a:outerShdw sx="100000" sy="100000" kx="0" ky="0" algn="bl" rotWithShape="0" blurRad="127000" dist="25400" dir="5400000">
              <a:srgbClr val="16203F">
                <a:alpha val="12000"/>
              </a:srgbClr>
            </a:outerShdw>
          </a:effectLst>
        </p:spPr>
      </p:sp>
      <p:sp>
        <p:nvSpPr>
          <p:cNvPr id="9" name="lesson-badge-1"/>
          <p:cNvSpPr/>
          <p:nvPr/>
        </p:nvSpPr>
        <p:spPr>
          <a:xfrm>
            <a:off x="868680" y="3337560"/>
            <a:ext cx="512064" cy="512064"/>
          </a:xfrm>
          <a:prstGeom prst="ellipse">
            <a:avLst/>
          </a:prstGeom>
          <a:solidFill>
            <a:srgbClr val="1C7293"/>
          </a:solidFill>
          <a:ln w="12700">
            <a:solidFill>
              <a:srgbClr val="1C7293"/>
            </a:solidFill>
            <a:prstDash val="solid"/>
          </a:ln>
        </p:spPr>
      </p:sp>
      <p:sp>
        <p:nvSpPr>
          <p:cNvPr id="10" name="Text 8"/>
          <p:cNvSpPr txBox="1"/>
          <p:nvPr/>
        </p:nvSpPr>
        <p:spPr>
          <a:xfrm>
            <a:off x="868680" y="333756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rPr>
              <a:t>02</a:t>
            </a:r>
            <a:endParaRPr lang="en-US" sz="1500" dirty="0"/>
          </a:p>
        </p:txBody>
      </p:sp>
      <p:sp>
        <p:nvSpPr>
          <p:cNvPr id="11" name="Text 9"/>
          <p:cNvSpPr txBox="1"/>
          <p:nvPr/>
        </p:nvSpPr>
        <p:spPr>
          <a:xfrm>
            <a:off x="1627632" y="3127248"/>
            <a:ext cx="9509760" cy="411480"/>
          </a:xfrm>
          <a:prstGeom prst="rect">
            <a:avLst/>
          </a:prstGeom>
          <a:noFill/>
          <a:ln/>
        </p:spPr>
        <p:txBody>
          <a:bodyPr wrap="square" lIns="0" tIns="0" rIns="0" bIns="0" rtlCol="0" anchor="ctr"/>
          <a:lstStyle/>
          <a:p>
            <a:pPr indent="0" marL="0">
              <a:buNone/>
            </a:pPr>
            <a:r>
              <a:rPr lang="en-US" sz="1900" b="1" dirty="0">
                <a:solidFill>
                  <a:srgbClr val="16203F"/>
                </a:solidFill>
              </a:rPr>
              <a:t>Heuristic không đổi lời giải, chỉ đổi công sức</a:t>
            </a:r>
            <a:endParaRPr lang="en-US" sz="1900" dirty="0"/>
          </a:p>
        </p:txBody>
      </p:sp>
      <p:sp>
        <p:nvSpPr>
          <p:cNvPr id="12" name="Text 10"/>
          <p:cNvSpPr txBox="1"/>
          <p:nvPr/>
        </p:nvSpPr>
        <p:spPr>
          <a:xfrm>
            <a:off x="1627632" y="3557016"/>
            <a:ext cx="9509760" cy="548640"/>
          </a:xfrm>
          <a:prstGeom prst="rect">
            <a:avLst/>
          </a:prstGeom>
          <a:noFill/>
          <a:ln/>
        </p:spPr>
        <p:txBody>
          <a:bodyPr wrap="square" lIns="0" tIns="0" rIns="0" bIns="0" rtlCol="0" anchor="ctr"/>
          <a:lstStyle/>
          <a:p>
            <a:pPr indent="0" marL="0">
              <a:buNone/>
            </a:pPr>
            <a:r>
              <a:rPr lang="en-US" sz="1350" dirty="0">
                <a:solidFill>
                  <a:srgbClr val="32414F"/>
                </a:solidFill>
              </a:rPr>
              <a:t>UCS và A* luôn cho cùng chi phí tối ưu, nhưng A* đạt được điều đó với chưa tới một nửa số nút. Điều kiện là heuristic phải chấp nhận được.</a:t>
            </a:r>
            <a:endParaRPr lang="en-US" sz="1350" dirty="0"/>
          </a:p>
        </p:txBody>
      </p:sp>
      <p:sp>
        <p:nvSpPr>
          <p:cNvPr id="13" name="lesson-2"/>
          <p:cNvSpPr/>
          <p:nvPr/>
        </p:nvSpPr>
        <p:spPr>
          <a:xfrm>
            <a:off x="566928" y="4471416"/>
            <a:ext cx="11045952"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127000" dist="25400" dir="5400000">
              <a:srgbClr val="16203F">
                <a:alpha val="12000"/>
              </a:srgbClr>
            </a:outerShdw>
          </a:effectLst>
        </p:spPr>
      </p:sp>
      <p:sp>
        <p:nvSpPr>
          <p:cNvPr id="14" name="lesson-badge-2"/>
          <p:cNvSpPr/>
          <p:nvPr/>
        </p:nvSpPr>
        <p:spPr>
          <a:xfrm>
            <a:off x="868680" y="4910328"/>
            <a:ext cx="512064" cy="512064"/>
          </a:xfrm>
          <a:prstGeom prst="ellipse">
            <a:avLst/>
          </a:prstGeom>
          <a:solidFill>
            <a:srgbClr val="16203F"/>
          </a:solidFill>
          <a:ln w="12700">
            <a:solidFill>
              <a:srgbClr val="16203F"/>
            </a:solidFill>
            <a:prstDash val="solid"/>
          </a:ln>
        </p:spPr>
      </p:sp>
      <p:sp>
        <p:nvSpPr>
          <p:cNvPr id="15" name="Text 13"/>
          <p:cNvSpPr txBox="1"/>
          <p:nvPr/>
        </p:nvSpPr>
        <p:spPr>
          <a:xfrm>
            <a:off x="868680" y="491032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rPr>
              <a:t>03</a:t>
            </a:r>
            <a:endParaRPr lang="en-US" sz="1500" dirty="0"/>
          </a:p>
        </p:txBody>
      </p:sp>
      <p:sp>
        <p:nvSpPr>
          <p:cNvPr id="16" name="Text 14"/>
          <p:cNvSpPr txBox="1"/>
          <p:nvPr/>
        </p:nvSpPr>
        <p:spPr>
          <a:xfrm>
            <a:off x="1627632" y="4700016"/>
            <a:ext cx="9509760" cy="411480"/>
          </a:xfrm>
          <a:prstGeom prst="rect">
            <a:avLst/>
          </a:prstGeom>
          <a:noFill/>
          <a:ln/>
        </p:spPr>
        <p:txBody>
          <a:bodyPr wrap="square" lIns="0" tIns="0" rIns="0" bIns="0" rtlCol="0" anchor="ctr"/>
          <a:lstStyle/>
          <a:p>
            <a:pPr indent="0" marL="0">
              <a:buNone/>
            </a:pPr>
            <a:r>
              <a:rPr lang="en-US" sz="1900" b="1" dirty="0">
                <a:solidFill>
                  <a:srgbClr val="16203F"/>
                </a:solidFill>
              </a:rPr>
              <a:t>Luôn có đánh đổi giữa tốc độ và chất lượng</a:t>
            </a:r>
            <a:endParaRPr lang="en-US" sz="1900" dirty="0"/>
          </a:p>
        </p:txBody>
      </p:sp>
      <p:sp>
        <p:nvSpPr>
          <p:cNvPr id="17" name="Text 15"/>
          <p:cNvSpPr txBox="1"/>
          <p:nvPr/>
        </p:nvSpPr>
        <p:spPr>
          <a:xfrm>
            <a:off x="1627632" y="5129784"/>
            <a:ext cx="9509760" cy="548640"/>
          </a:xfrm>
          <a:prstGeom prst="rect">
            <a:avLst/>
          </a:prstGeom>
          <a:noFill/>
          <a:ln/>
        </p:spPr>
        <p:txBody>
          <a:bodyPr wrap="square" lIns="0" tIns="0" rIns="0" bIns="0" rtlCol="0" anchor="ctr"/>
          <a:lstStyle/>
          <a:p>
            <a:pPr indent="0" marL="0">
              <a:buNone/>
            </a:pPr>
            <a:r>
              <a:rPr lang="en-US" sz="1350" dirty="0">
                <a:solidFill>
                  <a:srgbClr val="32414F"/>
                </a:solidFill>
              </a:rPr>
              <a:t>Greedy nhanh gấp sáu lần A* nhưng đường đi đắt hơn 45%. Không có thuật toán nào tốt nhất tuyệt đối — lựa chọn phụ thuộc vào điều bài toán coi trọng.</a:t>
            </a:r>
            <a:endParaRPr lang="en-US" sz="1350" dirty="0"/>
          </a:p>
        </p:txBody>
      </p:sp>
      <p:sp>
        <p:nvSpPr>
          <p:cNvPr id="18" name="Text 16"/>
          <p:cNvSpPr txBox="1"/>
          <p:nvPr/>
        </p:nvSpPr>
        <p:spPr>
          <a:xfrm>
            <a:off x="566928" y="5943600"/>
            <a:ext cx="11045952" cy="411480"/>
          </a:xfrm>
          <a:prstGeom prst="rect">
            <a:avLst/>
          </a:prstGeom>
          <a:noFill/>
          <a:ln/>
        </p:spPr>
        <p:txBody>
          <a:bodyPr wrap="square" lIns="0" tIns="0" rIns="0" bIns="0" rtlCol="0" anchor="ctr"/>
          <a:lstStyle/>
          <a:p>
            <a:pPr indent="0" marL="0">
              <a:buNone/>
            </a:pPr>
            <a:r>
              <a:rPr lang="en-US" sz="1250" i="1" dirty="0">
                <a:solidFill>
                  <a:srgbClr val="6B7C8C"/>
                </a:solidFill>
              </a:rPr>
              <a:t>Hướng phát triển: IDA*, Bidirectional Search, Jump Point Search  ·  bài toán 8-puzzle và Tháp Hà Nội  ·  D* Lite cho môi trường động  ·  chuyển giao diện sang nền web</a:t>
            </a:r>
            <a:endParaRPr lang="en-US" sz="1250" dirty="0"/>
          </a:p>
        </p:txBody>
      </p:sp>
      <p:sp>
        <p:nvSpPr>
          <p:cNvPr id="19" name="Text 0"/>
          <p:cNvSpPr/>
          <p:nvPr>
            <p:ph idx="101" type="body" hasCustomPrompt="1"/>
          </p:nvPr>
        </p:nvSpPr>
        <p:spPr>
          <a:xfrm>
            <a:off x="566928" y="1207008"/>
            <a:ext cx="11064240" cy="4937760"/>
          </a:xfrm>
          <a:prstGeom prst="rect">
            <a:avLst/>
          </a:prstGeom>
          <a:noFill/>
          <a:ln/>
        </p:spPr>
        <p:txBody>
          <a:bodyPr wrap="square"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247120" y="6327648"/>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C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1691640"/>
            <a:ext cx="10515600" cy="2194560"/>
          </a:xfrm>
          <a:prstGeom prst="rect">
            <a:avLst/>
          </a:prstGeom>
          <a:noFill/>
          <a:ln/>
        </p:spPr>
        <p:txBody>
          <a:bodyPr wrap="square" rtlCol="0" anchor="ctr"/>
          <a:lstStyle/>
          <a:p>
            <a:pPr algn="ctr" indent="0" marL="0">
              <a:buNone/>
            </a:pPr>
            <a:r>
              <a:rPr lang="en-US" sz="3400" b="1" dirty="0">
                <a:solidFill>
                  <a:srgbClr val="FFFFFF"/>
                </a:solidFill>
              </a:rPr>
              <a:t>DEMO ỨNG DỤNG</a:t>
            </a:r>
            <a:endParaRPr lang="en-US" sz="3400" dirty="0"/>
          </a:p>
          <a:p>
            <a:pPr algn="ctr" indent="0" marL="0">
              <a:buNone/>
            </a:pPr>
            <a:r>
              <a:rPr lang="en-US" sz="3400" b="1" dirty="0">
                <a:solidFill>
                  <a:srgbClr val="FFFFFF"/>
                </a:solidFill>
              </a:rPr>
              <a:t>&amp; THẢO LUẬN</a:t>
            </a:r>
            <a:endParaRPr lang="en-US" sz="3400" dirty="0"/>
          </a:p>
        </p:txBody>
      </p:sp>
      <p:sp>
        <p:nvSpPr>
          <p:cNvPr id="3" name="Text 0"/>
          <p:cNvSpPr/>
          <p:nvPr>
            <p:ph idx="101" type="body" hasCustomPrompt="1"/>
          </p:nvPr>
        </p:nvSpPr>
        <p:spPr>
          <a:xfrm>
            <a:off x="1463040" y="4160520"/>
            <a:ext cx="9235440" cy="1554480"/>
          </a:xfrm>
          <a:prstGeom prst="rect">
            <a:avLst/>
          </a:prstGeom>
          <a:noFill/>
          <a:ln/>
        </p:spPr>
        <p:txBody>
          <a:bodyPr wrap="square" rtlCol="0" anchor="t"/>
          <a:lstStyle/>
          <a:p>
            <a:pPr algn="ctr" indent="0" marL="0">
              <a:buNone/>
            </a:pPr>
            <a:r>
              <a:rPr lang="en-US" sz="1600" b="1" dirty="0">
                <a:solidFill>
                  <a:srgbClr val="E8A33D"/>
                </a:solidFill>
              </a:rPr>
              <a:t>github.com/&lt;tài-khoản&gt;/pathfinding-visualizer</a:t>
            </a:r>
            <a:endParaRPr lang="en-US" sz="1600" dirty="0"/>
          </a:p>
          <a:p>
            <a:pPr algn="ctr" indent="0" marL="0">
              <a:buNone/>
            </a:pPr>
            <a:r>
              <a:rPr lang="en-US" sz="1600" dirty="0">
                <a:solidFill>
                  <a:srgbClr val="CFE1EC"/>
                </a:solidFill>
                <a:latin typeface="Courier New" pitchFamily="34" charset="0"/>
                <a:ea typeface="Courier New" pitchFamily="34" charset="-122"/>
                <a:cs typeface="Courier New" pitchFamily="34" charset="-120"/>
              </a:rPr>
              <a:t>python main.py</a:t>
            </a:r>
            <a:endParaRPr lang="en-US" sz="1600" dirty="0"/>
          </a:p>
          <a:p>
            <a:pPr algn="ctr" indent="0" marL="0">
              <a:buNone/>
            </a:pPr>
            <a:r>
              <a:rPr lang="en-US" sz="1600" dirty="0">
                <a:solidFill>
                  <a:srgbClr val="9FB8C8"/>
                </a:solidFill>
              </a:rPr>
              <a:t>Cảm ơn thầy cô và các bạn đã lắng nghe</a:t>
            </a:r>
            <a:endParaRPr lang="en-US" sz="1600" dirty="0"/>
          </a:p>
        </p:txBody>
      </p:sp>
    </p:spTree>
  </p:cSld>
  <p:clrMapOvr>
    <a:masterClrMapping/>
  </p:clrMapOvr>
</p:sld>
</file>

<file path=ppt/theme/theme1.xml><?xml version="1.0" encoding="utf-8"?>
<a:theme xmlns:a="http://schemas.openxmlformats.org/drawingml/2006/main" name="Ocean Pathfinding">
  <a:themeElements>
    <a:clrScheme name="Ocean Pathfinding">
      <a:dk1>
        <a:srgbClr val="16203F"/>
      </a:dk1>
      <a:lt1>
        <a:srgbClr val="FFFFFF"/>
      </a:lt1>
      <a:dk2>
        <a:srgbClr val="065A82"/>
      </a:dk2>
      <a:lt2>
        <a:srgbClr val="EEF3F7"/>
      </a:lt2>
      <a:accent1>
        <a:srgbClr val="065A82"/>
      </a:accent1>
      <a:accent2>
        <a:srgbClr val="1C7293"/>
      </a:accent2>
      <a:accent3>
        <a:srgbClr val="21295C"/>
      </a:accent3>
      <a:accent4>
        <a:srgbClr val="E8A33D"/>
      </a:accent4>
      <a:accent5>
        <a:srgbClr val="9FB8C8"/>
      </a:accent5>
      <a:accent6>
        <a:srgbClr val="C94F4F"/>
      </a:accent6>
      <a:hlink>
        <a:srgbClr val="1C7293"/>
      </a:hlink>
      <a:folHlink>
        <a:srgbClr val="9FB8C8"/>
      </a:folHlink>
    </a:clrScheme>
    <a:fontScheme name="Ocean Pathfind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Ung dung mo phong cac thuat toan tim kiem trong khong gian trang thai</dc:title>
  <dc:subject>PptxGenJS Presentation</dc:subject>
  <dc:creator>Nhom bai tap mon Tri tue nhan tao</dc:creator>
  <cp:lastModifiedBy>Nhom bai tap mon Tri tue nhan tao</cp:lastModifiedBy>
  <cp:revision>1</cp:revision>
  <dcterms:created xsi:type="dcterms:W3CDTF">2026-10-26T06:45:38Z</dcterms:created>
  <dcterms:modified xsi:type="dcterms:W3CDTF">2026-10-26T06:45:38Z</dcterms:modified>
</cp:coreProperties>
</file>